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80" r:id="rId7"/>
    <p:sldId id="279" r:id="rId8"/>
    <p:sldId id="265" r:id="rId9"/>
    <p:sldId id="266" r:id="rId10"/>
    <p:sldId id="281" r:id="rId11"/>
    <p:sldId id="282" r:id="rId12"/>
    <p:sldId id="283" r:id="rId13"/>
    <p:sldId id="267" r:id="rId14"/>
    <p:sldId id="268" r:id="rId15"/>
    <p:sldId id="284" r:id="rId16"/>
    <p:sldId id="285" r:id="rId17"/>
    <p:sldId id="286" r:id="rId18"/>
    <p:sldId id="287" r:id="rId19"/>
    <p:sldId id="288" r:id="rId20"/>
    <p:sldId id="289" r:id="rId21"/>
    <p:sldId id="269" r:id="rId22"/>
    <p:sldId id="270" r:id="rId23"/>
    <p:sldId id="272" r:id="rId24"/>
    <p:sldId id="273" r:id="rId25"/>
    <p:sldId id="292" r:id="rId26"/>
    <p:sldId id="274" r:id="rId27"/>
    <p:sldId id="271" r:id="rId28"/>
    <p:sldId id="290" r:id="rId29"/>
    <p:sldId id="291" r:id="rId30"/>
    <p:sldId id="275" r:id="rId31"/>
    <p:sldId id="276" r:id="rId32"/>
    <p:sldId id="27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" id="{4602D2D0-834E-4E86-AEAF-AAB8FB93B1CA}">
          <p14:sldIdLst>
            <p14:sldId id="260"/>
          </p14:sldIdLst>
        </p14:section>
        <p14:section name="First Section" id="{2A98B0A6-DB63-47B0-AF98-E6244F23387C}">
          <p14:sldIdLst>
            <p14:sldId id="261"/>
            <p14:sldId id="262"/>
          </p14:sldIdLst>
        </p14:section>
        <p14:section name="Second Section" id="{E86CB88F-01C5-4413-A9CC-29B24BDBDA03}">
          <p14:sldIdLst>
            <p14:sldId id="263"/>
            <p14:sldId id="264"/>
            <p14:sldId id="280"/>
            <p14:sldId id="279"/>
          </p14:sldIdLst>
        </p14:section>
        <p14:section name="3 Section" id="{D24FC2C9-BB4D-402F-9368-976A2E2F65EF}">
          <p14:sldIdLst>
            <p14:sldId id="265"/>
            <p14:sldId id="266"/>
            <p14:sldId id="281"/>
            <p14:sldId id="282"/>
            <p14:sldId id="283"/>
          </p14:sldIdLst>
        </p14:section>
        <p14:section name="4 Section" id="{961BFD44-71CC-4B18-B167-4829CC99B2F1}">
          <p14:sldIdLst>
            <p14:sldId id="267"/>
            <p14:sldId id="268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5 Section" id="{1B0EBED0-A023-46A0-9D61-401D0272F578}">
          <p14:sldIdLst>
            <p14:sldId id="269"/>
            <p14:sldId id="270"/>
            <p14:sldId id="272"/>
            <p14:sldId id="273"/>
            <p14:sldId id="292"/>
            <p14:sldId id="274"/>
            <p14:sldId id="271"/>
            <p14:sldId id="290"/>
            <p14:sldId id="291"/>
          </p14:sldIdLst>
        </p14:section>
        <p14:section name="End Section" id="{E1BD1089-7951-4C6D-A36E-CE353DCE8327}">
          <p14:sldIdLst>
            <p14:sldId id="275"/>
            <p14:sldId id="276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A7ED48-02FC-4326-87AD-ACA9214EC11B}" v="8" dt="2025-11-01T11:20:25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91" autoAdjust="0"/>
  </p:normalViewPr>
  <p:slideViewPr>
    <p:cSldViewPr snapToGrid="0">
      <p:cViewPr varScale="1">
        <p:scale>
          <a:sx n="79" d="100"/>
          <a:sy n="79" d="100"/>
        </p:scale>
        <p:origin x="80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CC10-19C2-5E98-12E6-AD3167DEB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1F38B-E26A-268A-006F-FC4007560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C508E-C5F9-F4B3-C9A2-8BCE532D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CCCF4-AD34-8784-6B3F-3757CAE79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0CF74-855F-0913-E07A-5DA3D890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5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34C1-1BE5-8396-D20F-9B80454D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E06A-CCE9-32B5-1AAE-BAC0DA1E4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0801-CC69-1DC7-C497-1B0D40B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D936-0792-EA2E-D7E7-8E6C6A64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5A69-E640-A427-BB69-BD774E39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5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FB05-D7E8-BD55-E7DA-478252D8C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2D54A-AA13-561A-5034-1626C7546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10C6F-C8DF-AA32-F17D-EBA6F1DB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460F-E4BC-D6DB-957C-480FEB37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BA397-8624-F302-8D7D-41861AE3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21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E536-FB03-4E48-1C3C-C58BCAAB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8164D-AA16-23C8-0F0E-AD7F65016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8A6CC-287F-B135-6DDA-E4D63764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BBAD6-8853-D777-F031-E0AE9F21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7C559-4166-437F-ED9F-66910822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18ED1-B2B9-14DA-8243-795D1BEC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7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7BD1-2D1A-4429-5DB2-55C17199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57444-F9CA-C9C6-86B3-1FAB6DE06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A76C-9D83-87E4-E4ED-068B2BCFA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D8BA4-643B-F0D9-41E2-EEA442744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0ABE2-0A54-93D5-12BE-266FBE504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8246B-E8BE-6EDA-E225-364F5EF6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7DB89-A499-5940-D97B-84E4A0A8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D4EB1-A7C8-4F0D-1B9A-10AE2DC3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5A88-A858-BE48-D464-5166085A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D8021-E309-8C7A-FE0D-81D21BEE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CF661-C18A-731A-0A76-93BBBB0A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9B7D6-19F8-9174-3CBC-DCFAAB87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32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1F6AD-C4A4-E83B-CC51-4ACED255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BF268C-9B9D-E904-8F83-141EAA16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12F6C-DAE7-A63A-1D86-C5CCB4D9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8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AA1F6-768C-6B40-38BA-6EB6E83D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A77F5-D344-F4C6-5D22-921C4BE4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31EAB-2367-FCA8-43C2-B3E79F84B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EB0A1-BCAD-BB04-3674-F30F6F81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72ABA-0028-B759-4B96-77094C26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49610-0B75-EBEB-6C04-BB8183E2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6758-3373-4DF9-80E3-4AFE9E20E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4061F-AF3E-1B8B-53FF-B1B71C953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A1B90-1DF3-1529-9FA3-655F81BA2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DBAC1-85E7-9D83-AABD-B16E22E4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EA58A-D3E3-6590-638A-02F43406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D15E6-D36B-8564-04CB-9AACD09A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3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DD9D-A7FF-A989-F77F-B585413A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5A72B-D6A4-D7E6-DD24-B064DA527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9BB01-4C32-9CB8-7648-480A7AAF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E94BD-15AC-B46B-6AC6-73821F35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1F05A-A2AE-F576-13E8-2C0FFF18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9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45F3F9-F2E2-9C05-0B78-02E02A7A0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B1FB9-FA78-8B32-503E-3C82CE6B1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5DD1-36F1-3C66-1915-1D501784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A5A2-D96F-88BB-EEDC-FB0AB43A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D64A-0DA5-3BDE-A350-E1AE110A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8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A04794-42E2-28FD-E895-43DC05EE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B06C2-3181-6DD2-44C7-B94C19F48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F721C-FA2C-5490-C677-674EA108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5528E-2842-4867-9C93-41C9BBDFC53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416BC-675F-B637-B280-DA31461C2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66578-0D80-5448-82F5-6E0D465CC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A97EB-0A66-45F0-BF88-E31FC1172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8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image" Target="../media/image6.png"/><Relationship Id="rId18" Type="http://schemas.openxmlformats.org/officeDocument/2006/relationships/image" Target="../media/image70.png"/><Relationship Id="rId3" Type="http://schemas.openxmlformats.org/officeDocument/2006/relationships/image" Target="../media/image2.svg"/><Relationship Id="rId21" Type="http://schemas.openxmlformats.org/officeDocument/2006/relationships/image" Target="../media/image80.png"/><Relationship Id="rId7" Type="http://schemas.openxmlformats.org/officeDocument/2006/relationships/image" Target="../media/image4.png"/><Relationship Id="rId12" Type="http://schemas.openxmlformats.org/officeDocument/2006/relationships/image" Target="../media/image50.png"/><Relationship Id="rId17" Type="http://schemas.openxmlformats.org/officeDocument/2006/relationships/slide" Target="slide21.xml"/><Relationship Id="rId2" Type="http://schemas.openxmlformats.org/officeDocument/2006/relationships/image" Target="../media/image1.png"/><Relationship Id="rId16" Type="http://schemas.openxmlformats.org/officeDocument/2006/relationships/image" Target="../media/image7.png"/><Relationship Id="rId20" Type="http://schemas.openxmlformats.org/officeDocument/2006/relationships/slide" Target="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slide" Target="slide8.xml"/><Relationship Id="rId5" Type="http://schemas.openxmlformats.org/officeDocument/2006/relationships/slide" Target="slide2.xml"/><Relationship Id="rId15" Type="http://schemas.openxmlformats.org/officeDocument/2006/relationships/image" Target="../media/image60.png"/><Relationship Id="rId10" Type="http://schemas.openxmlformats.org/officeDocument/2006/relationships/image" Target="../media/image5.png"/><Relationship Id="rId19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15A62-1FA5-5555-D1BC-902D55ED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DC92B2-AD96-41CF-4D32-C25D59371188}"/>
              </a:ext>
            </a:extLst>
          </p:cNvPr>
          <p:cNvCxnSpPr/>
          <p:nvPr/>
        </p:nvCxnSpPr>
        <p:spPr>
          <a:xfrm flipH="1">
            <a:off x="2174240" y="6248400"/>
            <a:ext cx="943864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53D595-7409-2B4E-4F04-26ED26954F94}"/>
              </a:ext>
            </a:extLst>
          </p:cNvPr>
          <p:cNvCxnSpPr>
            <a:cxnSpLocks/>
          </p:cNvCxnSpPr>
          <p:nvPr/>
        </p:nvCxnSpPr>
        <p:spPr>
          <a:xfrm flipH="1" flipV="1">
            <a:off x="3841848" y="3938016"/>
            <a:ext cx="452376" cy="394953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C5D34A-6248-4945-0E16-8588E1DF0E8A}"/>
              </a:ext>
            </a:extLst>
          </p:cNvPr>
          <p:cNvCxnSpPr/>
          <p:nvPr/>
        </p:nvCxnSpPr>
        <p:spPr>
          <a:xfrm flipV="1">
            <a:off x="2054352" y="4005072"/>
            <a:ext cx="499872" cy="384048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3933-2650-C545-0A13-0206D4009E71}"/>
              </a:ext>
            </a:extLst>
          </p:cNvPr>
          <p:cNvCxnSpPr/>
          <p:nvPr/>
        </p:nvCxnSpPr>
        <p:spPr>
          <a:xfrm flipV="1">
            <a:off x="5502950" y="3954109"/>
            <a:ext cx="499872" cy="384048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CA0CAF-F3DE-878B-EC0C-095A72C16320}"/>
              </a:ext>
            </a:extLst>
          </p:cNvPr>
          <p:cNvCxnSpPr>
            <a:cxnSpLocks/>
          </p:cNvCxnSpPr>
          <p:nvPr/>
        </p:nvCxnSpPr>
        <p:spPr>
          <a:xfrm>
            <a:off x="7382256" y="3870960"/>
            <a:ext cx="644878" cy="578987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278C71-537B-DF54-50B7-2FD5D3A3B0F6}"/>
              </a:ext>
            </a:extLst>
          </p:cNvPr>
          <p:cNvCxnSpPr>
            <a:cxnSpLocks/>
          </p:cNvCxnSpPr>
          <p:nvPr/>
        </p:nvCxnSpPr>
        <p:spPr>
          <a:xfrm flipV="1">
            <a:off x="9265920" y="3838666"/>
            <a:ext cx="727524" cy="550454"/>
          </a:xfrm>
          <a:prstGeom prst="line">
            <a:avLst/>
          </a:prstGeom>
          <a:ln w="635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2">
            <a:extLst>
              <a:ext uri="{FF2B5EF4-FFF2-40B4-BE49-F238E27FC236}">
                <a16:creationId xmlns:a16="http://schemas.microsoft.com/office/drawing/2014/main" id="{8072C721-96CB-698C-DE04-1A83FF3490C7}"/>
              </a:ext>
            </a:extLst>
          </p:cNvPr>
          <p:cNvSpPr/>
          <p:nvPr/>
        </p:nvSpPr>
        <p:spPr>
          <a:xfrm>
            <a:off x="5842001" y="-381000"/>
            <a:ext cx="7733471" cy="7339767"/>
          </a:xfrm>
          <a:custGeom>
            <a:avLst/>
            <a:gdLst/>
            <a:ahLst/>
            <a:cxnLst/>
            <a:rect l="l" t="t" r="r" b="b"/>
            <a:pathLst>
              <a:path w="11600207" h="11009651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28D0E5D-3F5F-ED62-2A5B-EC205113E2AC}"/>
              </a:ext>
            </a:extLst>
          </p:cNvPr>
          <p:cNvSpPr txBox="1"/>
          <p:nvPr/>
        </p:nvSpPr>
        <p:spPr>
          <a:xfrm>
            <a:off x="7195289" y="1531934"/>
            <a:ext cx="3579775" cy="378630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sp useBgFill="1">
        <p:nvSpPr>
          <p:cNvPr id="18" name="Freeform 18">
            <a:extLst>
              <a:ext uri="{FF2B5EF4-FFF2-40B4-BE49-F238E27FC236}">
                <a16:creationId xmlns:a16="http://schemas.microsoft.com/office/drawing/2014/main" id="{C6654A1A-0DE4-9F07-450A-B01DB63F255A}"/>
              </a:ext>
            </a:extLst>
          </p:cNvPr>
          <p:cNvSpPr/>
          <p:nvPr/>
        </p:nvSpPr>
        <p:spPr>
          <a:xfrm>
            <a:off x="3686401" y="1439386"/>
            <a:ext cx="612841" cy="612841"/>
          </a:xfrm>
          <a:custGeom>
            <a:avLst/>
            <a:gdLst/>
            <a:ahLst/>
            <a:cxnLst/>
            <a:rect l="l" t="t" r="r" b="b"/>
            <a:pathLst>
              <a:path w="919261" h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US" sz="120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Section Zoom 8">
                <a:extLst>
                  <a:ext uri="{FF2B5EF4-FFF2-40B4-BE49-F238E27FC236}">
                    <a16:creationId xmlns:a16="http://schemas.microsoft.com/office/drawing/2014/main" id="{59F7DA50-B2FA-6392-BA45-47916C6758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79511308"/>
                  </p:ext>
                </p:extLst>
              </p:nvPr>
            </p:nvGraphicFramePr>
            <p:xfrm>
              <a:off x="-107064" y="4075430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2A98B0A6-DB63-47B0-AF98-E6244F23387C}">
                    <psez:zmPr id="{539E792B-4750-46C2-BE02-D8AC456E0D11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Section Zoom 8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9F7DA50-B2FA-6392-BA45-47916C6758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7064" y="4075430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173CE9CF-ECB1-6B9C-FEF0-8BFD8A170E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5174263"/>
                  </p:ext>
                </p:extLst>
              </p:nvPr>
            </p:nvGraphicFramePr>
            <p:xfrm>
              <a:off x="1648466" y="256783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E86CB88F-01C5-4413-A9CC-29B24BDBDA03}">
                    <psez:zmPr id="{F9BC9B4A-FEA1-4973-94DB-8192476D1F27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173CE9CF-ECB1-6B9C-FEF0-8BFD8A170E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8466" y="2567834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290DFF68-F2DF-0C8F-85BC-2882CB4546D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0912246"/>
                  </p:ext>
                </p:extLst>
              </p:nvPr>
            </p:nvGraphicFramePr>
            <p:xfrm>
              <a:off x="3375910" y="4075430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D24FC2C9-BB4D-402F-9368-976A2E2F65EF}">
                    <psez:zmPr id="{32555D1F-D1C3-477C-9986-51A0E3FEF70A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290DFF68-F2DF-0C8F-85BC-2882CB4546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75910" y="4075430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9" name="Section Zoom 18">
                <a:extLst>
                  <a:ext uri="{FF2B5EF4-FFF2-40B4-BE49-F238E27FC236}">
                    <a16:creationId xmlns:a16="http://schemas.microsoft.com/office/drawing/2014/main" id="{890DB34E-EF73-2325-8906-3B50AC9725D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75106"/>
                  </p:ext>
                </p:extLst>
              </p:nvPr>
            </p:nvGraphicFramePr>
            <p:xfrm>
              <a:off x="5131440" y="256783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961BFD44-71CC-4B18-B167-4829CC99B2F1}">
                    <psez:zmPr id="{D1FBA712-0DFC-41A3-B2E3-1F4A978B95AC}" transitionDur="1000" showBg="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9" name="Section Zoom 18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890DB34E-EF73-2325-8906-3B50AC9725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31440" y="2567834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79DBA645-5920-763B-C49B-AFEA43A788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3528872"/>
                  </p:ext>
                </p:extLst>
              </p:nvPr>
            </p:nvGraphicFramePr>
            <p:xfrm>
              <a:off x="7156133" y="4140945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1B0EBED0-A023-46A0-9D61-401D0272F578}">
                    <psez:zmPr id="{387E8CBB-2560-496B-94F9-CCE4F8DEA685}" transitionDur="1000" showBg="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79DBA645-5920-763B-C49B-AFEA43A788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56133" y="4140945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E13BBD67-E28F-0EFF-D9F0-8CC7DFF5F6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737744"/>
                  </p:ext>
                </p:extLst>
              </p:nvPr>
            </p:nvGraphicFramePr>
            <p:xfrm>
              <a:off x="9080352" y="2431633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E1BD1089-7951-4C6D-A36E-CE353DCE8327}">
                    <psez:zmPr id="{AE872A72-CD28-416C-A29A-C61E625F3491}" transitionDur="1000" showBg="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4" name="Section Zoom 23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E13BBD67-E28F-0EFF-D9F0-8CC7DFF5F6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80352" y="2431633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49DBC6D-7CD9-29ED-E24A-80810E4C66B7}"/>
              </a:ext>
            </a:extLst>
          </p:cNvPr>
          <p:cNvSpPr txBox="1"/>
          <p:nvPr/>
        </p:nvSpPr>
        <p:spPr>
          <a:xfrm>
            <a:off x="2125844" y="978570"/>
            <a:ext cx="79403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badi" panose="020F0502020204030204" pitchFamily="34" charset="0"/>
              </a:rPr>
              <a:t>The Impact of Screen Time and </a:t>
            </a:r>
            <a:endParaRPr lang="ar-OM" sz="4000" b="1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badi" panose="020F0502020204030204" pitchFamily="34" charset="0"/>
              </a:rPr>
              <a:t>Technology Use on Mental Health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286B7-01A8-7D9E-793A-68D47AA79452}"/>
              </a:ext>
            </a:extLst>
          </p:cNvPr>
          <p:cNvSpPr txBox="1"/>
          <p:nvPr/>
        </p:nvSpPr>
        <p:spPr>
          <a:xfrm>
            <a:off x="4897142" y="6374441"/>
            <a:ext cx="49151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Fatima </a:t>
            </a:r>
            <a:r>
              <a:rPr lang="en-US" sz="20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Al-Amri</a:t>
            </a:r>
            <a:r>
              <a:rPr lang="en-US" sz="2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&amp;  </a:t>
            </a:r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Ashgan Al Shamali</a:t>
            </a:r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5109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51EA4AB-4174-55A8-7F44-1F1BE313343C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C4581-FA6F-92F8-40D6-ED0A4F68D222}"/>
              </a:ext>
            </a:extLst>
          </p:cNvPr>
          <p:cNvSpPr txBox="1"/>
          <p:nvPr/>
        </p:nvSpPr>
        <p:spPr>
          <a:xfrm>
            <a:off x="3576786" y="4260715"/>
            <a:ext cx="5017720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Introduction</a:t>
            </a:r>
          </a:p>
        </p:txBody>
      </p:sp>
      <p:pic>
        <p:nvPicPr>
          <p:cNvPr id="8" name="Graphic 7" descr="Lightbulb with solid fill">
            <a:extLst>
              <a:ext uri="{FF2B5EF4-FFF2-40B4-BE49-F238E27FC236}">
                <a16:creationId xmlns:a16="http://schemas.microsoft.com/office/drawing/2014/main" id="{CA2A3DDF-0472-CA38-44B1-E314159FD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1111385"/>
            <a:ext cx="2971800" cy="29718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818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57D72678-DBE3-1FF1-64D6-AB39E44042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0495A22-42CD-055E-36BB-D6DF1CC8D96F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765F8B-16C9-B3C6-8C69-06399DECB684}"/>
              </a:ext>
            </a:extLst>
          </p:cNvPr>
          <p:cNvSpPr/>
          <p:nvPr/>
        </p:nvSpPr>
        <p:spPr>
          <a:xfrm rot="1524148">
            <a:off x="10403384" y="3866245"/>
            <a:ext cx="695985" cy="293392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C95796D-521B-4547-A195-AC6C622D93AF}"/>
              </a:ext>
            </a:extLst>
          </p:cNvPr>
          <p:cNvSpPr/>
          <p:nvPr/>
        </p:nvSpPr>
        <p:spPr>
          <a:xfrm rot="1524148">
            <a:off x="9797019" y="2485871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1CF496-58FD-88C3-B401-C0CE46389CBD}"/>
              </a:ext>
            </a:extLst>
          </p:cNvPr>
          <p:cNvSpPr/>
          <p:nvPr/>
        </p:nvSpPr>
        <p:spPr>
          <a:xfrm rot="1524148">
            <a:off x="9279865" y="1334636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3535E5-06B4-0454-567F-32CDE95BF0C8}"/>
              </a:ext>
            </a:extLst>
          </p:cNvPr>
          <p:cNvSpPr/>
          <p:nvPr/>
        </p:nvSpPr>
        <p:spPr>
          <a:xfrm rot="1524148">
            <a:off x="2374494" y="3835764"/>
            <a:ext cx="695985" cy="293392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06AFCC-2C89-3763-BAFC-DFF52FB88E74}"/>
              </a:ext>
            </a:extLst>
          </p:cNvPr>
          <p:cNvSpPr/>
          <p:nvPr/>
        </p:nvSpPr>
        <p:spPr>
          <a:xfrm rot="1524148">
            <a:off x="1768129" y="2455390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5D8606-5448-9937-077A-843751ED5DEE}"/>
              </a:ext>
            </a:extLst>
          </p:cNvPr>
          <p:cNvSpPr/>
          <p:nvPr/>
        </p:nvSpPr>
        <p:spPr>
          <a:xfrm rot="1524148">
            <a:off x="1250975" y="1304155"/>
            <a:ext cx="838200" cy="37033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8D4C1-5CA7-0FF3-5125-2554D6E71582}"/>
              </a:ext>
            </a:extLst>
          </p:cNvPr>
          <p:cNvSpPr txBox="1"/>
          <p:nvPr/>
        </p:nvSpPr>
        <p:spPr>
          <a:xfrm>
            <a:off x="2488282" y="1807075"/>
            <a:ext cx="7215437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Introduction</a:t>
            </a:r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E099F785-D273-5933-C230-F9F22897C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5580" y="148375"/>
            <a:ext cx="1699260" cy="169926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2B9B7A-C035-3EA6-73BB-48446802EBC9}"/>
              </a:ext>
            </a:extLst>
          </p:cNvPr>
          <p:cNvSpPr txBox="1"/>
          <p:nvPr/>
        </p:nvSpPr>
        <p:spPr>
          <a:xfrm>
            <a:off x="1078315" y="3481266"/>
            <a:ext cx="10138160" cy="2787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The rise of smartphones and social media has transformed how people live and connect.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However, growing screen time has raised concerns about its effect on mental health.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Studies suggest links between excessive digital use and issues like stress, poor sleep, and anxiety.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Understanding these patterns is essential for promoting healthier digital habits.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Akhbar MT" pitchFamily="2" charset="-78"/>
              </a:rPr>
              <a:t>This project explores how screen and social media usage impact well-being using real data.</a:t>
            </a:r>
          </a:p>
        </p:txBody>
      </p:sp>
    </p:spTree>
    <p:extLst>
      <p:ext uri="{BB962C8B-B14F-4D97-AF65-F5344CB8AC3E}">
        <p14:creationId xmlns:p14="http://schemas.microsoft.com/office/powerpoint/2010/main" val="2407676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4.81481E-6 L 0.03815 -0.1490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13 7.40741E-7 L 0.03815 -0.1490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13 1.85185E-6 L 0.03815 -0.1490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1 -3.33333E-6 L 0.03815 -0.1490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13 2.59259E-6 L 0.03815 -0.1490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13 3.7037E-6 L 0.03815 -0.1490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17" grpId="0" animBg="1"/>
      <p:bldP spid="16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C37DC-A245-75D3-807D-4B7BF5A1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2D2AC79-F063-8689-24F8-BF729D086A0D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44F76-B53C-4896-3FCB-058DB8D8F5FA}"/>
              </a:ext>
            </a:extLst>
          </p:cNvPr>
          <p:cNvSpPr txBox="1"/>
          <p:nvPr/>
        </p:nvSpPr>
        <p:spPr>
          <a:xfrm>
            <a:off x="4562306" y="4260715"/>
            <a:ext cx="3244799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6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5" name="Graphic 4" descr="Search Inventory with solid fill">
            <a:extLst>
              <a:ext uri="{FF2B5EF4-FFF2-40B4-BE49-F238E27FC236}">
                <a16:creationId xmlns:a16="http://schemas.microsoft.com/office/drawing/2014/main" id="{B473F000-EB93-5A81-1DEB-2E0556344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1111385"/>
            <a:ext cx="2971800" cy="29718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784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1422A-2E07-C493-4236-4B312A82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56E37983-EB54-30E0-6271-596F25290B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A0CC92-311F-A6B5-5FB8-3382581587A8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92E21-3386-9542-199B-A2F2797D68D6}"/>
              </a:ext>
            </a:extLst>
          </p:cNvPr>
          <p:cNvSpPr txBox="1"/>
          <p:nvPr/>
        </p:nvSpPr>
        <p:spPr>
          <a:xfrm>
            <a:off x="3777096" y="1807075"/>
            <a:ext cx="4637808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5CFDE-0B0F-2376-1D07-79C36C6E396A}"/>
              </a:ext>
            </a:extLst>
          </p:cNvPr>
          <p:cNvSpPr txBox="1"/>
          <p:nvPr/>
        </p:nvSpPr>
        <p:spPr>
          <a:xfrm>
            <a:off x="586961" y="3441412"/>
            <a:ext cx="56028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Two datasets were obtained for this study: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▫ Mental Health &amp; Technology Usage 2024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▫ Screen Time &amp; App Usage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mental health dataset includes stress levels, sleep, and tech habits.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screen time dataset tracks daily app usage across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Both datasets were merged using screen time as a common key.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integration provided a complete view of users' digital behavior and mental health.</a:t>
            </a:r>
          </a:p>
        </p:txBody>
      </p:sp>
      <p:pic>
        <p:nvPicPr>
          <p:cNvPr id="2" name="Graphic 1" descr="Search Inventory with solid fill">
            <a:extLst>
              <a:ext uri="{FF2B5EF4-FFF2-40B4-BE49-F238E27FC236}">
                <a16:creationId xmlns:a16="http://schemas.microsoft.com/office/drawing/2014/main" id="{227F65B7-CFBC-1196-77D1-D9FF0DAB6B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3309" y="367700"/>
            <a:ext cx="1700784" cy="170078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0251B2-28DE-1C44-75A7-A5E98A0BFC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746" y="3429000"/>
            <a:ext cx="4909487" cy="20167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7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A36F9E-0F38-B598-D296-FE5002C572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271" r="15405"/>
          <a:stretch>
            <a:fillRect/>
          </a:stretch>
        </p:blipFill>
        <p:spPr>
          <a:xfrm>
            <a:off x="6776746" y="5725909"/>
            <a:ext cx="4909486" cy="8519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2102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0AC4-0641-E3FA-AD00-E9094BB6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77EB540-C245-C59C-FF87-E217B0104D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4B55524-13E8-9B54-FEB6-B69427ABA0EF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F1CF6-08C5-59EE-05B5-778DD9CA4CA1}"/>
              </a:ext>
            </a:extLst>
          </p:cNvPr>
          <p:cNvSpPr txBox="1"/>
          <p:nvPr/>
        </p:nvSpPr>
        <p:spPr>
          <a:xfrm>
            <a:off x="3777096" y="1807075"/>
            <a:ext cx="4637808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2" name="Graphic 1" descr="Search Inventory with solid fill">
            <a:extLst>
              <a:ext uri="{FF2B5EF4-FFF2-40B4-BE49-F238E27FC236}">
                <a16:creationId xmlns:a16="http://schemas.microsoft.com/office/drawing/2014/main" id="{CB2F6857-40B4-4588-BBE3-DCC069E06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3309" y="367700"/>
            <a:ext cx="1700784" cy="170078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092A23-25F5-CA31-F937-8A5C9E2420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765"/>
          <a:stretch>
            <a:fillRect/>
          </a:stretch>
        </p:blipFill>
        <p:spPr>
          <a:xfrm>
            <a:off x="176544" y="3096405"/>
            <a:ext cx="6112129" cy="3615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F11B37-15DE-579D-BFEE-F7BDE4CF390C}"/>
              </a:ext>
            </a:extLst>
          </p:cNvPr>
          <p:cNvSpPr txBox="1"/>
          <p:nvPr/>
        </p:nvSpPr>
        <p:spPr>
          <a:xfrm>
            <a:off x="6812564" y="5572046"/>
            <a:ext cx="339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The merged dataset contains 2,545 rows and 38 columns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E91052-C622-8EC4-060F-CE646217B5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7029" y="4658079"/>
            <a:ext cx="2415749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65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5443-8062-0A99-A097-B7D86743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41D7FEC-CAAB-30D5-585C-8452EDA6B8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79791FF-6BA1-B7E7-5950-B251DD83098B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F36E6-196F-FE92-D81A-CC4A1B992635}"/>
              </a:ext>
            </a:extLst>
          </p:cNvPr>
          <p:cNvSpPr txBox="1"/>
          <p:nvPr/>
        </p:nvSpPr>
        <p:spPr>
          <a:xfrm>
            <a:off x="3777096" y="1807075"/>
            <a:ext cx="4637808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lvl="0"/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Dataset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2" name="Graphic 1" descr="Search Inventory with solid fill">
            <a:extLst>
              <a:ext uri="{FF2B5EF4-FFF2-40B4-BE49-F238E27FC236}">
                <a16:creationId xmlns:a16="http://schemas.microsoft.com/office/drawing/2014/main" id="{067D25F7-9B97-8762-FCE5-541DD95BC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3309" y="367700"/>
            <a:ext cx="1700784" cy="170078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90A75-F4DA-7565-59F4-9F9ACB2725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67" y="4371826"/>
            <a:ext cx="4403122" cy="21136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79A6A0-2A97-B6E4-03BE-DDA906DCFC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044"/>
          <a:stretch>
            <a:fillRect/>
          </a:stretch>
        </p:blipFill>
        <p:spPr>
          <a:xfrm>
            <a:off x="6362359" y="3672785"/>
            <a:ext cx="2583305" cy="27986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EECABB-4C08-C0E7-03CD-03E0F1EF0F05}"/>
              </a:ext>
            </a:extLst>
          </p:cNvPr>
          <p:cNvSpPr txBox="1"/>
          <p:nvPr/>
        </p:nvSpPr>
        <p:spPr>
          <a:xfrm>
            <a:off x="398834" y="3395472"/>
            <a:ext cx="4727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We found that after merging, the dataset contains (38 columns), and their names are shown below.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FDE18B-4465-8A29-8540-613AA3634144}"/>
              </a:ext>
            </a:extLst>
          </p:cNvPr>
          <p:cNvSpPr txBox="1"/>
          <p:nvPr/>
        </p:nvSpPr>
        <p:spPr>
          <a:xfrm>
            <a:off x="9054953" y="3960573"/>
            <a:ext cx="29003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The check for missing values shows that most columns are complete, but three columns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youtube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views,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youtube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likes, and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youtube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comments  each have 2,386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2540517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9850E-28E7-E0E9-413F-62C74A50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F6CC8C6-8D73-2649-5F6E-172BA4C958B8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CC07C-1842-A686-F7AC-CBD31823313D}"/>
              </a:ext>
            </a:extLst>
          </p:cNvPr>
          <p:cNvSpPr txBox="1"/>
          <p:nvPr/>
        </p:nvSpPr>
        <p:spPr>
          <a:xfrm>
            <a:off x="3477089" y="4179323"/>
            <a:ext cx="530626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75FB6-C6BE-DB79-3772-D27C6622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244417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7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DFD89-AD58-746F-F042-47595BF4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93C0EB7-F59D-A5DB-36B5-85FD58C75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834DF27-4CB8-9786-0616-0F1D459CE27D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ED72B-6589-BF01-CFC0-65DE82FA0FFF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EC023-C06D-CB12-AB30-F3214BEBC9A2}"/>
              </a:ext>
            </a:extLst>
          </p:cNvPr>
          <p:cNvSpPr txBox="1"/>
          <p:nvPr/>
        </p:nvSpPr>
        <p:spPr>
          <a:xfrm>
            <a:off x="426720" y="3390612"/>
            <a:ext cx="61142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Removed irrelevant and duplicate columns from both datasets.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Converted screen time from minutes to hours for consistency.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Merged datasets using Screen_Time_Hours as a common field.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Handled missing values and ensured data types were consistent.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Engineered new features such as: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▫ Heavy User Indicator (≥ 120 mins/day)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</a:rPr>
              <a:t>▫ Digital Well-Being Index = (Sleep – Social Media) / (Stress + 1)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AFECE9-A361-D6B1-FCAC-2E92940995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55" r="25163"/>
          <a:stretch>
            <a:fillRect/>
          </a:stretch>
        </p:blipFill>
        <p:spPr>
          <a:xfrm>
            <a:off x="6932515" y="3779980"/>
            <a:ext cx="4591047" cy="10576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18B1E6-3CA2-79D5-6D4B-4D008354A9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455" r="6998" b="14620"/>
          <a:stretch>
            <a:fillRect/>
          </a:stretch>
        </p:blipFill>
        <p:spPr>
          <a:xfrm>
            <a:off x="6840319" y="5539099"/>
            <a:ext cx="4683243" cy="8811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19B050-5D4F-935D-29AF-ED9D8F3CFE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29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F184-736B-CB13-CDD3-2BD159AB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02DC9DA4-31C7-5ABD-A871-AE62F62827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3793511-2226-45D7-5B38-36B104F114FA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B47B5-E213-18E5-1629-E95705EB4377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254F4F-D238-6836-691D-677E04B6F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36446F-89FB-F21D-E1EA-141B45B18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84" y="3740072"/>
            <a:ext cx="5121084" cy="127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70146A-FA15-C720-447A-CC3598E4D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135" y="3747692"/>
            <a:ext cx="5616427" cy="12650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52C4BD-6292-4927-672E-8BB2D46E0088}"/>
              </a:ext>
            </a:extLst>
          </p:cNvPr>
          <p:cNvSpPr txBox="1"/>
          <p:nvPr/>
        </p:nvSpPr>
        <p:spPr>
          <a:xfrm>
            <a:off x="768485" y="5294878"/>
            <a:ext cx="4479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Removes extra spaces from column names and text values.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D7701-BDFE-96E4-529E-A0962A773C2E}"/>
              </a:ext>
            </a:extLst>
          </p:cNvPr>
          <p:cNvSpPr txBox="1"/>
          <p:nvPr/>
        </p:nvSpPr>
        <p:spPr>
          <a:xfrm>
            <a:off x="6197594" y="5343826"/>
            <a:ext cx="4727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Fill missing values using mean for numeric and mode for text columns.</a:t>
            </a:r>
          </a:p>
        </p:txBody>
      </p:sp>
    </p:spTree>
    <p:extLst>
      <p:ext uri="{BB962C8B-B14F-4D97-AF65-F5344CB8AC3E}">
        <p14:creationId xmlns:p14="http://schemas.microsoft.com/office/powerpoint/2010/main" val="2693663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B53F-5060-3F26-3675-C20676DE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9CD78C38-F73D-BC21-F045-D248A9153B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11E5B6F-9345-042B-21AB-62C92CD1E38B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8216BE-2FC1-261C-E8FB-60E57A11D296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CF3584-0707-6A2F-A3A7-C59677C76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E203CE-4AC3-8C31-32FD-F3C10CDBC7AA}"/>
              </a:ext>
            </a:extLst>
          </p:cNvPr>
          <p:cNvSpPr txBox="1"/>
          <p:nvPr/>
        </p:nvSpPr>
        <p:spPr>
          <a:xfrm>
            <a:off x="757234" y="5927078"/>
            <a:ext cx="4479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Drop unnecessary or extra columns from the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B7180-5BF6-7508-3720-D866D5A31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33" y="3579075"/>
            <a:ext cx="5407304" cy="21952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0B27D7-82C9-8680-76CD-805FB0939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349" y="3813775"/>
            <a:ext cx="2614549" cy="10081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4FD5CF7-3C0B-7BC0-A8E7-DE5B7A2F4A68}"/>
              </a:ext>
            </a:extLst>
          </p:cNvPr>
          <p:cNvSpPr txBox="1"/>
          <p:nvPr/>
        </p:nvSpPr>
        <p:spPr>
          <a:xfrm>
            <a:off x="6341382" y="5012722"/>
            <a:ext cx="3598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After data cleaning the dataset has 2,545 rows and 20 columns</a:t>
            </a:r>
          </a:p>
        </p:txBody>
      </p:sp>
    </p:spTree>
    <p:extLst>
      <p:ext uri="{BB962C8B-B14F-4D97-AF65-F5344CB8AC3E}">
        <p14:creationId xmlns:p14="http://schemas.microsoft.com/office/powerpoint/2010/main" val="1616153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12D3-46A7-1D4E-AD0F-DCE60E64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52F4CA82-5009-FB8D-C0C8-111841FF19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4A7490B-F559-2CC4-5A73-01EAB8BAFEEE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0C289-1942-0AE5-ED63-6EFF49812467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Cleaning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D81F70-BBCD-70F9-2C9F-CD0783376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250794"/>
            <a:ext cx="1700784" cy="17007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06D0AD-BABD-2E65-031C-3F4D3A342A3C}"/>
              </a:ext>
            </a:extLst>
          </p:cNvPr>
          <p:cNvSpPr txBox="1"/>
          <p:nvPr/>
        </p:nvSpPr>
        <p:spPr>
          <a:xfrm>
            <a:off x="757233" y="5927078"/>
            <a:ext cx="4806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Select a random sample of 1000 rows to simplify analysis and reduce dataset size.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DE779-7B31-725F-7A61-93822DB3A0FC}"/>
              </a:ext>
            </a:extLst>
          </p:cNvPr>
          <p:cNvSpPr txBox="1"/>
          <p:nvPr/>
        </p:nvSpPr>
        <p:spPr>
          <a:xfrm>
            <a:off x="7325772" y="5288752"/>
            <a:ext cx="3598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dirty="0">
                <a:solidFill>
                  <a:schemeClr val="bg1"/>
                </a:solidFill>
              </a:rPr>
              <a:t>Shape after cleaning: (1000, 20)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D731D-B937-FE82-8C95-0E270C26E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50" y="3587394"/>
            <a:ext cx="5909388" cy="21713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755531-9E48-3883-FCEC-ED049D0AF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8" y="3547712"/>
            <a:ext cx="4783082" cy="146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88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9FA41-913C-F0F7-6F9A-EC821185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90AC05A-D766-B1AF-D8E7-31AC91B53B8C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1D412-4245-DB86-E851-BEF370BAC4C3}"/>
              </a:ext>
            </a:extLst>
          </p:cNvPr>
          <p:cNvSpPr txBox="1"/>
          <p:nvPr/>
        </p:nvSpPr>
        <p:spPr>
          <a:xfrm>
            <a:off x="3477089" y="4179323"/>
            <a:ext cx="5192447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 </a:t>
            </a:r>
            <a:r>
              <a:rPr lang="en-US" sz="60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Analysis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F0502020204030204" pitchFamily="2" charset="-79"/>
              <a:ea typeface="+mn-ea"/>
              <a:cs typeface="Aharoni" panose="020F05020202040302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D8861-6651-7B6E-DE29-2EF269791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207523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0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8A645-BC55-4680-29DB-636A33AFF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E8745E1E-2252-FFD7-C9A9-10957F5F05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93A4A32-81A0-3175-A084-F859A7C61B28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DBE01-0F58-40E4-98CC-6B8E28A041A6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73B7C-ADA2-1CF5-6E56-66A97C2C9B71}"/>
              </a:ext>
            </a:extLst>
          </p:cNvPr>
          <p:cNvSpPr txBox="1"/>
          <p:nvPr/>
        </p:nvSpPr>
        <p:spPr>
          <a:xfrm>
            <a:off x="426720" y="3390612"/>
            <a:ext cx="42976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Explored the structure and content of the dataset.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Reviewed data types, column names, and basic statistics.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Checked for missing values and inconsistencies.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Identified key variables related to screen time and mental health.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Prepared the data for deeper insights and visualization.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AE7C5E-0B63-6AB7-90BC-D936B1733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F45636-15BD-084C-D024-C71054E19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608" y="3547712"/>
            <a:ext cx="6757445" cy="25011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5DF6D-7FA6-F250-0F23-FB547DEEBFD4}"/>
              </a:ext>
            </a:extLst>
          </p:cNvPr>
          <p:cNvSpPr txBox="1"/>
          <p:nvPr/>
        </p:nvSpPr>
        <p:spPr>
          <a:xfrm>
            <a:off x="5245608" y="6084090"/>
            <a:ext cx="686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Show the first 5 rows of the dataset to preview data after cleaning.</a:t>
            </a:r>
          </a:p>
        </p:txBody>
      </p:sp>
    </p:spTree>
    <p:extLst>
      <p:ext uri="{BB962C8B-B14F-4D97-AF65-F5344CB8AC3E}">
        <p14:creationId xmlns:p14="http://schemas.microsoft.com/office/powerpoint/2010/main" val="2779287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ADB0-289C-76CC-2A4F-17F79DD1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92341A8E-7537-3FCE-CB5A-27F2E7CD48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2CD250E-7686-837A-841A-9477FE4F41F5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77CA9-9802-9438-FF84-2EB8EEDDEA1E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EABF9-8CDB-A769-1728-5414A1CD1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4A70F-1E92-DB23-0531-F34464E90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277" y="3283469"/>
            <a:ext cx="2998890" cy="3045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E219EE-8A61-CAE8-B255-9C19DA20F857}"/>
              </a:ext>
            </a:extLst>
          </p:cNvPr>
          <p:cNvSpPr txBox="1"/>
          <p:nvPr/>
        </p:nvSpPr>
        <p:spPr>
          <a:xfrm>
            <a:off x="347414" y="6329156"/>
            <a:ext cx="4681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Count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nunique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values in categorical columns.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04EFE5-62D0-49CF-2A75-AE94806CA554}"/>
              </a:ext>
            </a:extLst>
          </p:cNvPr>
          <p:cNvSpPr txBox="1"/>
          <p:nvPr/>
        </p:nvSpPr>
        <p:spPr>
          <a:xfrm>
            <a:off x="8927684" y="3978402"/>
            <a:ext cx="3047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maximums,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numeric columns.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</a:t>
            </a:r>
            <a:r>
              <a:rPr lang="en-US" dirty="0">
                <a:solidFill>
                  <a:schemeClr val="bg1"/>
                </a:solidFill>
              </a:rPr>
              <a:t>One column shows True, which means it is a </a:t>
            </a:r>
            <a:r>
              <a:rPr lang="en-US" b="1" dirty="0">
                <a:solidFill>
                  <a:schemeClr val="bg1"/>
                </a:solidFill>
              </a:rPr>
              <a:t>Boolean column</a:t>
            </a:r>
            <a:r>
              <a:rPr lang="en-US" dirty="0">
                <a:solidFill>
                  <a:schemeClr val="bg1"/>
                </a:solidFill>
              </a:rPr>
              <a:t> that contains only True or False values instead of numbers.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DFD423-38FB-4678-386E-5C9F8AA1A5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287" y="3547712"/>
            <a:ext cx="2854598" cy="306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17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ECB8-3325-5E60-16F5-2D367820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3E4BC2F6-6C6E-6153-87C5-6608ACC497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574A6C0-7CB6-0020-490F-36E85FAE55A9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01FFF-BE34-6EFB-17DD-EB7719AFBC25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113A5C-5657-C7BC-8B68-88AEA4005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E8ED9-D27D-8257-CA8F-A8467AED2C8C}"/>
              </a:ext>
            </a:extLst>
          </p:cNvPr>
          <p:cNvSpPr txBox="1"/>
          <p:nvPr/>
        </p:nvSpPr>
        <p:spPr>
          <a:xfrm>
            <a:off x="1250721" y="4364405"/>
            <a:ext cx="4681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Filter rows using conditions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only Social or Games category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2E7137-5A8F-CEDA-9079-B5832D99A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483" y="4996792"/>
            <a:ext cx="4820642" cy="6847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994B2A-4C5D-01CB-6098-E6FD746A4A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8744" y="3479326"/>
            <a:ext cx="5700254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5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52F4-3683-1B84-48B5-8328A6D7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64AC31DD-DD5B-15AB-399C-EF69D4B404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45837C7-F2F7-0E61-E2F4-9D750CA18DF1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4D39B-043B-B30B-0924-088728D5DAA0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ADE76-33F1-8D66-491A-EF55169E4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0142E0-65AD-0AE6-BEBC-5F670FA3C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09" y="5057539"/>
            <a:ext cx="5145327" cy="655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687322-318E-5FD6-BA10-B66E8A3FF46C}"/>
              </a:ext>
            </a:extLst>
          </p:cNvPr>
          <p:cNvSpPr txBox="1"/>
          <p:nvPr/>
        </p:nvSpPr>
        <p:spPr>
          <a:xfrm>
            <a:off x="823002" y="4360937"/>
            <a:ext cx="4681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Filter rows using conditions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users with more than 2h screen time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2CE0FA-AA1D-866B-F9C8-1508C3BB3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8745" y="3288780"/>
            <a:ext cx="6067634" cy="329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6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8843-1928-B213-09B2-C59CCC7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3C7B427E-137F-FE79-6638-0A569A111E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E27FC21-092D-15A5-02DD-B36362B65DD3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523C-1371-7C9D-EC28-5B10F94F22F3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0B94C7-BEEC-9E34-F319-E8FB02405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C5E031-E5DD-7B95-90FD-890E3E503C30}"/>
              </a:ext>
            </a:extLst>
          </p:cNvPr>
          <p:cNvSpPr txBox="1"/>
          <p:nvPr/>
        </p:nvSpPr>
        <p:spPr>
          <a:xfrm>
            <a:off x="823002" y="4360937"/>
            <a:ext cx="4681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Filter rows using conditions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: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-  users aged between 18–25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D65F5-B1F3-C8B1-B06C-B043F4CBF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30" y="5263515"/>
            <a:ext cx="4908978" cy="6881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49C7CC-B9EC-49E6-40C0-E17599CA1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627" y="3238450"/>
            <a:ext cx="6516353" cy="344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0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CC0F-E378-2B48-0B05-ED659864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1F729AC6-55C1-CFF3-BC7F-4129C3D2E4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98B51FA-0C34-09A5-CA3F-E1A58FEA6BC3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C18DF-CA86-6CB0-4E67-72CB72D70CD5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F28028-CD40-D429-3266-B60A5D5B0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F655E0-2595-EF6D-BA0C-4F84C7926B49}"/>
              </a:ext>
            </a:extLst>
          </p:cNvPr>
          <p:cNvSpPr txBox="1"/>
          <p:nvPr/>
        </p:nvSpPr>
        <p:spPr>
          <a:xfrm>
            <a:off x="989450" y="5775728"/>
            <a:ext cx="46817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Adds a (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heavy_user</a:t>
            </a:r>
            <a:r>
              <a:rPr lang="ar-OM" dirty="0">
                <a:solidFill>
                  <a:schemeClr val="bg1"/>
                </a:solidFill>
                <a:latin typeface="Abadi" panose="020B0604020104020204" pitchFamily="34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column to mark users with more than 120 minutes of screen time (1 = heavy user, 0 = regular user).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89774-F939-729F-D9C4-8F769CDEF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38" y="3669916"/>
            <a:ext cx="5129247" cy="1988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CAB373-0AC5-6526-AD94-145815935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384" y="3323722"/>
            <a:ext cx="848267" cy="337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3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484E-7EC9-31F9-C776-05ED3380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48F2723C-D388-6B4F-3464-482F3DAF42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D93B09F-19DA-0750-570A-A6DEF70EAD70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F1F31-FD1F-8CEB-17EA-509F5E2E5C7D}"/>
              </a:ext>
            </a:extLst>
          </p:cNvPr>
          <p:cNvSpPr txBox="1"/>
          <p:nvPr/>
        </p:nvSpPr>
        <p:spPr>
          <a:xfrm>
            <a:off x="2192439" y="1846928"/>
            <a:ext cx="933112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9600" b="1" dirty="0">
                <a:solidFill>
                  <a:prstClr val="white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Data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C1B1A-B2DE-EE85-DB73-E58271AE1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302855"/>
            <a:ext cx="1700784" cy="1700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F70CE0-2F7A-49C4-2CAD-80729F1B0967}"/>
              </a:ext>
            </a:extLst>
          </p:cNvPr>
          <p:cNvSpPr txBox="1"/>
          <p:nvPr/>
        </p:nvSpPr>
        <p:spPr>
          <a:xfrm>
            <a:off x="6728769" y="4263429"/>
            <a:ext cx="46817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Displays the average and maximum screen time in minutes to give a quick overview of user activity.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DC0643-756C-50DE-2128-3C256DC82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27" y="4005556"/>
            <a:ext cx="5917294" cy="17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7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BCFEC-FE52-9AC4-C82D-37EA87F4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EC2819D-94BF-7B9A-A7FF-DAF5A8D71E13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247C-E7E9-F900-7F1E-8E45CC550341}"/>
              </a:ext>
            </a:extLst>
          </p:cNvPr>
          <p:cNvSpPr txBox="1"/>
          <p:nvPr/>
        </p:nvSpPr>
        <p:spPr>
          <a:xfrm>
            <a:off x="3477089" y="3742443"/>
            <a:ext cx="5230031" cy="1938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683FC-799E-E4E2-67D8-D1A6FB470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26" y="1293986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6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EAED9-C273-9677-75FA-3EE9DA12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A6E1C4DF-56A1-DB81-8BF1-799FB83EBC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BA45A8-6FD7-4C0D-6745-D32DC81F7E52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1C970-E5C8-9462-F1AC-4E5AF8FF3887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D3E2B-A941-EACD-82F5-310B285F9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64" y="3241021"/>
            <a:ext cx="5490273" cy="29937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9B1081-BB7C-DF67-0604-4F2599B03F33}"/>
              </a:ext>
            </a:extLst>
          </p:cNvPr>
          <p:cNvSpPr txBox="1"/>
          <p:nvPr/>
        </p:nvSpPr>
        <p:spPr>
          <a:xfrm>
            <a:off x="6096000" y="3241021"/>
            <a:ext cx="429768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higher the stress level, the higher the time to use the screen.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may indicate that people with high stress tend to spend more time in front of screens, perhaps as a means of entertainment or escape from stress.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F1879F-7A6B-6D81-39CA-34CF95679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8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C019-2F9B-0E95-CDED-649B5A8F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F476256C-E879-332D-E7A8-1DEF0CE6AD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4A8F6C5-16DC-FCC0-D39F-4E721DF7FF9D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2FF38-80DF-1C2D-FD41-93496FECE422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08669-7B98-D061-EE9E-A761640A38E5}"/>
              </a:ext>
            </a:extLst>
          </p:cNvPr>
          <p:cNvSpPr txBox="1"/>
          <p:nvPr/>
        </p:nvSpPr>
        <p:spPr>
          <a:xfrm>
            <a:off x="6593840" y="3287017"/>
            <a:ext cx="534416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Balance: The distribution is largely balanced, with all percentages ranging from 23% to 27%. This suggests that the application market (in this data) is diverse and does not depend on a single type.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Equal attention: There seems to be a close demand from users for social media applications, entertainment, productivity and assistance.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B51382-74A3-296A-5891-B73F470D5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764" y="3170367"/>
            <a:ext cx="5442358" cy="35047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7D50A3-5960-1490-045A-8EE3894AF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5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A68E-73A8-F735-FA82-95F54A39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09EED620-A4C5-BB86-BE64-CB14015B3F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05D0F0B-2882-972C-7A9F-25A7E93ECB3F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E4DB3-FD4C-25ED-A4E4-7EAB2F9D7833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47EFB-BC78-20CC-32F2-DDA4E5BC5555}"/>
              </a:ext>
            </a:extLst>
          </p:cNvPr>
          <p:cNvSpPr txBox="1"/>
          <p:nvPr/>
        </p:nvSpPr>
        <p:spPr>
          <a:xfrm>
            <a:off x="6593840" y="3287017"/>
            <a:ext cx="5344160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There is a clear positive relationship between sleep hours and mental health status.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People with better mental health tend to sleep more and more consistently.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Those reporting poor mental health sleep fewer hours on average.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Promoting healthy sleep habits may help improve mental resilience.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CBDF2-8E28-550D-E85C-90F4A9A32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97" y="3078927"/>
            <a:ext cx="5419343" cy="33625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623E71-0C8B-5F6F-6DC1-F984419BA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2D74E-AE33-694C-513A-567A6ACDE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E10F97F6-C8F2-05C5-F4FD-B7F7E02E79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A547016-3C0A-BB37-824A-5FD17795CDD0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20682-BFC1-9EA0-A63C-B2C24701FA2B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F5BCD-69E0-C706-425E-A5CAECEB3EFA}"/>
              </a:ext>
            </a:extLst>
          </p:cNvPr>
          <p:cNvSpPr txBox="1"/>
          <p:nvPr/>
        </p:nvSpPr>
        <p:spPr>
          <a:xfrm>
            <a:off x="6593840" y="3287017"/>
            <a:ext cx="534416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The heatmap shows strong positive correlations between screen time variables and total usage,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and negative correlations between sleep or physical activity and stress level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indicating that more screen time relates to higher stress, while more rest and activity reduce it.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E00926-AF76-2F0F-7BBD-D4B6E54BC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628F5-71AD-556D-3813-BCB396592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637" y="2921550"/>
            <a:ext cx="4734414" cy="374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1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7C54-82D1-E762-96D0-A64BCC6C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868535A6-D3C9-50A4-D1B5-010D72438D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063D96F-0726-8DCB-0318-516E5A22C208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D3448-8B33-8E2E-A29E-5EFB8E58BD30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181C0-A6F6-A6FC-BB41-290CEC938E6D}"/>
              </a:ext>
            </a:extLst>
          </p:cNvPr>
          <p:cNvSpPr txBox="1"/>
          <p:nvPr/>
        </p:nvSpPr>
        <p:spPr>
          <a:xfrm>
            <a:off x="5974080" y="3287017"/>
            <a:ext cx="5963920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Screen Time &amp; Stress: More screen time is linked to higher stress levels.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Sleep &amp; Stress: Unexpectedly, more sleep sometimes appears with higher stress—may need deeper analysis.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 &amp; Screen Time: Usage varies by age, with spikes in older groups—no clear trend.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Gender Distribution: Most users are male, followed by "Other" and then female—gender may influence results.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F5B25-FC0B-AB4E-E61D-D96FD1044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58" y="3004414"/>
            <a:ext cx="5021162" cy="34617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C0C999-49A1-135C-DB57-71C4079FF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16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7AAE-97CF-FE28-185F-F29D1CF5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022FAAA6-4035-1832-2F02-172E8642B9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D65B2D0-FDFB-1CCA-B6C7-6FB8204D9D35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A1FF8-EA62-EBAC-C872-196FF94AC732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C1858-92E3-F87C-C1DA-9037715946A7}"/>
              </a:ext>
            </a:extLst>
          </p:cNvPr>
          <p:cNvSpPr txBox="1"/>
          <p:nvPr/>
        </p:nvSpPr>
        <p:spPr>
          <a:xfrm>
            <a:off x="6611523" y="3191735"/>
            <a:ext cx="505968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Males show the highest app usage, especially on YouTube.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Females have lower usage overall but are more active on WhatsApp</a:t>
            </a:r>
            <a:r>
              <a:rPr lang="ar-OM" dirty="0">
                <a:solidFill>
                  <a:prstClr val="white"/>
                </a:solidFill>
                <a:latin typeface="Aptos" panose="02110004020202020204"/>
              </a:rPr>
              <a:t>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OM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Other users show moderate and balanced usage across all apps.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89BF68-C8C1-7A48-4F8D-F0A5C7EC8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C32954-0D3A-C507-9286-6DF4CA618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79" y="3191735"/>
            <a:ext cx="5248348" cy="284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79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9263-025E-4498-E269-7282F20D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FEF14F2A-D499-B335-4342-B33E8EA86B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1261796-5942-5546-5F7F-871DEB9B6690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247C-D56A-D02B-3C28-D384C9479FB0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8520D-BCE1-9762-65CF-DB2FEA2988CB}"/>
              </a:ext>
            </a:extLst>
          </p:cNvPr>
          <p:cNvSpPr txBox="1"/>
          <p:nvPr/>
        </p:nvSpPr>
        <p:spPr>
          <a:xfrm>
            <a:off x="6572460" y="3748852"/>
            <a:ext cx="5059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Creates a </a:t>
            </a:r>
            <a:r>
              <a:rPr lang="en-US" b="1" dirty="0" err="1">
                <a:solidFill>
                  <a:schemeClr val="bg1"/>
                </a:solidFill>
              </a:rPr>
              <a:t>digital_wellbeing_index</a:t>
            </a:r>
            <a:r>
              <a:rPr lang="en-US" dirty="0">
                <a:solidFill>
                  <a:schemeClr val="bg1"/>
                </a:solidFill>
              </a:rPr>
              <a:t> column that measures user balance between sleep, stress, and social media usage.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427088-FD4D-B48B-C842-F941A37C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8D5CC-F71F-C635-19FC-843F80779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74" y="3191735"/>
            <a:ext cx="5740226" cy="298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3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AB33-3F3C-3296-1FFA-BDC8B8DA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08839E58-6178-AA57-44DC-19E9A6AD50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B07DBFC-CD96-87F2-9909-618196DB3E7B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D2D29-D467-4D82-2C46-DE0C23F2CE03}"/>
              </a:ext>
            </a:extLst>
          </p:cNvPr>
          <p:cNvSpPr txBox="1"/>
          <p:nvPr/>
        </p:nvSpPr>
        <p:spPr>
          <a:xfrm>
            <a:off x="2192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Data</a:t>
            </a:r>
            <a:r>
              <a:rPr kumimoji="0" lang="ar-OM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DDF09-7D41-B4D6-FD1F-29D738B0DC2A}"/>
              </a:ext>
            </a:extLst>
          </p:cNvPr>
          <p:cNvSpPr txBox="1"/>
          <p:nvPr/>
        </p:nvSpPr>
        <p:spPr>
          <a:xfrm>
            <a:off x="2140754" y="5870503"/>
            <a:ext cx="7357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People with neutral or positive work environments tend to be more physically active than those in negative environments.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539645-6C01-5296-D1D5-365946CDF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64" y="476860"/>
            <a:ext cx="1700784" cy="170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68DA71-9021-555C-17AB-B233FCB33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35" y="3311279"/>
            <a:ext cx="5288306" cy="2418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63793D-C605-8AEA-7567-EAC3489B9F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456" y="3305977"/>
            <a:ext cx="4804859" cy="241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55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0F86D-2F10-43E9-837E-18D4C568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E277D55-C4DB-36F4-5618-F60FC8513152}"/>
              </a:ext>
            </a:extLst>
          </p:cNvPr>
          <p:cNvSpPr/>
          <p:nvPr/>
        </p:nvSpPr>
        <p:spPr>
          <a:xfrm>
            <a:off x="2626468" y="214008"/>
            <a:ext cx="6939064" cy="6429984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A980A-E33E-54C3-EA92-B6F515F78FB1}"/>
              </a:ext>
            </a:extLst>
          </p:cNvPr>
          <p:cNvSpPr txBox="1"/>
          <p:nvPr/>
        </p:nvSpPr>
        <p:spPr>
          <a:xfrm>
            <a:off x="3477089" y="3742443"/>
            <a:ext cx="523003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61F85-EA9B-5AFD-95D0-AE8F47E4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04" y="925168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4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FA566-1471-93C6-8000-83535349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DE7E5CDD-7EBB-471C-4C07-CB2A71B60E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401AD16-ECE3-559A-4DCB-589FF72B8BA1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73CC9-CD97-C0C4-1E84-0D6E98BF83A3}"/>
              </a:ext>
            </a:extLst>
          </p:cNvPr>
          <p:cNvSpPr txBox="1"/>
          <p:nvPr/>
        </p:nvSpPr>
        <p:spPr>
          <a:xfrm>
            <a:off x="1430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B9FFE-29B9-9202-7B73-48870B420900}"/>
              </a:ext>
            </a:extLst>
          </p:cNvPr>
          <p:cNvSpPr txBox="1"/>
          <p:nvPr/>
        </p:nvSpPr>
        <p:spPr>
          <a:xfrm>
            <a:off x="4216400" y="3213122"/>
            <a:ext cx="7477760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Potential Benefits &amp; Applications</a:t>
            </a:r>
            <a:r>
              <a:rPr kumimoji="0" lang="ar-OM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analysis of screen time and mental health data using Python reveals how digital behavior impacts well-being.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By applying thoughtful data analysis, we uncovered meaningful patterns linking screen use to stress, sleep, and mental health.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These insights highlight the importance of balanced digital habits and can guide healthier lifestyle choices, informed awareness, and more supportive digital environments.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B31733-9D7B-21DF-1923-06CCAED6C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" y="3531395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37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84C0-CF9A-4E29-260F-57CFE56F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network&#10;&#10;AI-generated content may be incorrect.">
            <a:extLst>
              <a:ext uri="{FF2B5EF4-FFF2-40B4-BE49-F238E27FC236}">
                <a16:creationId xmlns:a16="http://schemas.microsoft.com/office/drawing/2014/main" id="{DEBCD881-21C9-CB53-E1F4-3F16BC92CA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9DDA077-1540-F861-5590-F07F7D662F14}"/>
              </a:ext>
            </a:extLst>
          </p:cNvPr>
          <p:cNvSpPr/>
          <p:nvPr/>
        </p:nvSpPr>
        <p:spPr>
          <a:xfrm>
            <a:off x="-1859666" y="-3003630"/>
            <a:ext cx="15911332" cy="12865260"/>
          </a:xfrm>
          <a:prstGeom prst="ellipse">
            <a:avLst/>
          </a:prstGeom>
          <a:solidFill>
            <a:srgbClr val="10425A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76BD1-2B14-E7D0-4A3F-C95D8F572137}"/>
              </a:ext>
            </a:extLst>
          </p:cNvPr>
          <p:cNvSpPr txBox="1"/>
          <p:nvPr/>
        </p:nvSpPr>
        <p:spPr>
          <a:xfrm>
            <a:off x="1430439" y="1846928"/>
            <a:ext cx="933112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F0502020204030204" pitchFamily="2" charset="-79"/>
                <a:ea typeface="+mn-ea"/>
                <a:cs typeface="Aharoni" panose="020F0502020204030204" pitchFamily="2" charset="-79"/>
              </a:rPr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F61F9-9931-F702-2814-3D7328303F51}"/>
              </a:ext>
            </a:extLst>
          </p:cNvPr>
          <p:cNvSpPr txBox="1"/>
          <p:nvPr/>
        </p:nvSpPr>
        <p:spPr>
          <a:xfrm>
            <a:off x="4216400" y="3213122"/>
            <a:ext cx="747776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Benefits of These Insights</a:t>
            </a:r>
            <a:r>
              <a:rPr kumimoji="0" lang="ar-OM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Help people understand how screen and social media habits affect their stress and sleep.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Encourage healthier daily routines, like reducing screen time before bed.</a:t>
            </a:r>
            <a:endParaRPr kumimoji="0" lang="ar-OM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Support better decisions in education, health, and digital policy planning.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E47E2-1033-D000-8FAE-223FA5432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34" y="3213122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9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1069</Words>
  <Application>Microsoft Office PowerPoint</Application>
  <PresentationFormat>Widescreen</PresentationFormat>
  <Paragraphs>104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Abadi</vt:lpstr>
      <vt:lpstr>ADLaM Display</vt:lpstr>
      <vt:lpstr>Aharoni</vt:lpstr>
      <vt:lpstr>Akhbar MT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AL-AMRI</dc:creator>
  <cp:lastModifiedBy>FATIMA AL-AMRI</cp:lastModifiedBy>
  <cp:revision>26</cp:revision>
  <dcterms:created xsi:type="dcterms:W3CDTF">2025-11-01T05:56:19Z</dcterms:created>
  <dcterms:modified xsi:type="dcterms:W3CDTF">2025-11-02T16:17:22Z</dcterms:modified>
</cp:coreProperties>
</file>