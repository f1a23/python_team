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62" r:id="rId4"/>
    <p:sldId id="263" r:id="rId5"/>
    <p:sldId id="264" r:id="rId6"/>
    <p:sldId id="280" r:id="rId7"/>
    <p:sldId id="279" r:id="rId8"/>
    <p:sldId id="265" r:id="rId9"/>
    <p:sldId id="266" r:id="rId10"/>
    <p:sldId id="281" r:id="rId11"/>
    <p:sldId id="282" r:id="rId12"/>
    <p:sldId id="283" r:id="rId13"/>
    <p:sldId id="267" r:id="rId14"/>
    <p:sldId id="268" r:id="rId15"/>
    <p:sldId id="293" r:id="rId16"/>
    <p:sldId id="284" r:id="rId17"/>
    <p:sldId id="285" r:id="rId18"/>
    <p:sldId id="286" r:id="rId19"/>
    <p:sldId id="287" r:id="rId20"/>
    <p:sldId id="288" r:id="rId21"/>
    <p:sldId id="289" r:id="rId22"/>
    <p:sldId id="269" r:id="rId23"/>
    <p:sldId id="270" r:id="rId24"/>
    <p:sldId id="294" r:id="rId25"/>
    <p:sldId id="295" r:id="rId26"/>
    <p:sldId id="296" r:id="rId27"/>
    <p:sldId id="272" r:id="rId28"/>
    <p:sldId id="292" r:id="rId29"/>
    <p:sldId id="297" r:id="rId30"/>
    <p:sldId id="274" r:id="rId31"/>
    <p:sldId id="271" r:id="rId32"/>
    <p:sldId id="290" r:id="rId33"/>
    <p:sldId id="275" r:id="rId34"/>
    <p:sldId id="278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me" id="{4602D2D0-834E-4E86-AEAF-AAB8FB93B1CA}">
          <p14:sldIdLst>
            <p14:sldId id="260"/>
          </p14:sldIdLst>
        </p14:section>
        <p14:section name="First Section" id="{2A98B0A6-DB63-47B0-AF98-E6244F23387C}">
          <p14:sldIdLst>
            <p14:sldId id="261"/>
            <p14:sldId id="262"/>
          </p14:sldIdLst>
        </p14:section>
        <p14:section name="Second Section" id="{E86CB88F-01C5-4413-A9CC-29B24BDBDA03}">
          <p14:sldIdLst>
            <p14:sldId id="263"/>
            <p14:sldId id="264"/>
            <p14:sldId id="280"/>
            <p14:sldId id="279"/>
          </p14:sldIdLst>
        </p14:section>
        <p14:section name="3 Section" id="{D24FC2C9-BB4D-402F-9368-976A2E2F65EF}">
          <p14:sldIdLst>
            <p14:sldId id="265"/>
            <p14:sldId id="266"/>
            <p14:sldId id="281"/>
            <p14:sldId id="282"/>
            <p14:sldId id="283"/>
          </p14:sldIdLst>
        </p14:section>
        <p14:section name="4 Section" id="{961BFD44-71CC-4B18-B167-4829CC99B2F1}">
          <p14:sldIdLst>
            <p14:sldId id="267"/>
            <p14:sldId id="268"/>
            <p14:sldId id="29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5 Section" id="{1B0EBED0-A023-46A0-9D61-401D0272F578}">
          <p14:sldIdLst>
            <p14:sldId id="269"/>
            <p14:sldId id="270"/>
            <p14:sldId id="294"/>
            <p14:sldId id="295"/>
            <p14:sldId id="296"/>
            <p14:sldId id="272"/>
            <p14:sldId id="292"/>
            <p14:sldId id="297"/>
            <p14:sldId id="274"/>
            <p14:sldId id="271"/>
            <p14:sldId id="290"/>
          </p14:sldIdLst>
        </p14:section>
        <p14:section name="End Section" id="{E1BD1089-7951-4C6D-A36E-CE353DCE8327}">
          <p14:sldIdLst>
            <p14:sldId id="275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42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A7ED48-02FC-4326-87AD-ACA9214EC11B}" v="8" dt="2025-11-01T11:20:25.3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3891" autoAdjust="0"/>
  </p:normalViewPr>
  <p:slideViewPr>
    <p:cSldViewPr snapToGrid="0">
      <p:cViewPr varScale="1">
        <p:scale>
          <a:sx n="79" d="100"/>
          <a:sy n="79" d="100"/>
        </p:scale>
        <p:origin x="802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9CC10-19C2-5E98-12E6-AD3167DEB4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91F38B-E26A-268A-006F-FC40075606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C508E-C5F9-F4B3-C9A2-8BCE532DD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CCCF4-AD34-8784-6B3F-3757CAE79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40CF74-855F-0913-E07A-5DA3D890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457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34C1-1BE5-8396-D20F-9B80454DA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3E06A-CCE9-32B5-1AAE-BAC0DA1E49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40801-CC69-1DC7-C497-1B0D40B82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9D936-0792-EA2E-D7E7-8E6C6A640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925A69-E640-A427-BB69-BD774E396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255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7FB05-D7E8-BD55-E7DA-478252D8C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22D54A-AA13-561A-5034-1626C7546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C10C6F-C8DF-AA32-F17D-EBA6F1DBA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E460F-E4BC-D6DB-957C-480FEB37A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ABA397-8624-F302-8D7D-41861AE3D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921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3E536-FB03-4E48-1C3C-C58BCAAB1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8164D-AA16-23C8-0F0E-AD7F65016F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38A6CC-287F-B135-6DDA-E4D63764E1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7BBAD6-8853-D777-F031-E0AE9F212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7C559-4166-437F-ED9F-66910822C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B18ED1-B2B9-14DA-8243-795D1BEC6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76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97BD1-2D1A-4429-5DB2-55C171990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957444-F9CA-C9C6-86B3-1FAB6DE06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AA76C-9D83-87E4-E4ED-068B2BCFA7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2D8BA4-643B-F0D9-41E2-EEA4427449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A0ABE2-0A54-93D5-12BE-266FBE5043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D8246B-E8BE-6EDA-E225-364F5EF61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F7DB89-A499-5940-D97B-84E4A0A82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3D4EB1-A7C8-4F0D-1B9A-10AE2DC33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64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25A88-A858-BE48-D464-5166085AB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ED8021-E309-8C7A-FE0D-81D21BEEF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ECF661-C18A-731A-0A76-93BBBB0A1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C9B7D6-19F8-9174-3CBC-DCFAAB877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332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81F6AD-C4A4-E83B-CC51-4ACED2556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BF268C-9B9D-E904-8F83-141EAA16F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12F6C-DAE7-A63A-1D86-C5CCB4D94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84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AA1F6-768C-6B40-38BA-6EB6E83D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A77F5-D344-F4C6-5D22-921C4BE48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131EAB-2367-FCA8-43C2-B3E79F84BE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8EB0A1-BCAD-BB04-3674-F30F6F816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72ABA-0028-B759-4B96-77094C262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649610-0B75-EBEB-6C04-BB8183E25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553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36758-3373-4DF9-80E3-4AFE9E20E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D4061F-AF3E-1B8B-53FF-B1B71C9538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8A1B90-1DF3-1529-9FA3-655F81BA2E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DBAC1-85E7-9D83-AABD-B16E22E40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AEA58A-D3E3-6590-638A-02F434067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D15E6-D36B-8564-04CB-9AACD09AF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230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DD9D-A7FF-A989-F77F-B585413AE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5A72B-D6A4-D7E6-DD24-B064DA527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D9BB01-4C32-9CB8-7648-480A7AAF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E94BD-15AC-B46B-6AC6-73821F357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1F05A-A2AE-F576-13E8-2C0FFF189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598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45F3F9-F2E2-9C05-0B78-02E02A7A01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1B1FB9-FA78-8B32-503E-3C82CE6B1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95DD1-36F1-3C66-1915-1D5017847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8A5A2-D96F-88BB-EEDC-FB0AB43A0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5D64A-0DA5-3BDE-A350-E1AE110A7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686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A04794-42E2-28FD-E895-43DC05EEB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AB06C2-3181-6DD2-44C7-B94C19F488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F721C-FA2C-5490-C677-674EA1083B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C5528E-2842-4867-9C93-41C9BBDFC53C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416BC-675F-B637-B280-DA31461C2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66578-0D80-5448-82F5-6E0D465CC6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DA97EB-0A66-45F0-BF88-E31FC1172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983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13" Type="http://schemas.openxmlformats.org/officeDocument/2006/relationships/image" Target="../media/image6.png"/><Relationship Id="rId18" Type="http://schemas.openxmlformats.org/officeDocument/2006/relationships/image" Target="../media/image70.png"/><Relationship Id="rId3" Type="http://schemas.openxmlformats.org/officeDocument/2006/relationships/image" Target="../media/image2.svg"/><Relationship Id="rId21" Type="http://schemas.openxmlformats.org/officeDocument/2006/relationships/image" Target="../media/image80.png"/><Relationship Id="rId7" Type="http://schemas.openxmlformats.org/officeDocument/2006/relationships/image" Target="../media/image4.png"/><Relationship Id="rId12" Type="http://schemas.openxmlformats.org/officeDocument/2006/relationships/image" Target="../media/image50.png"/><Relationship Id="rId17" Type="http://schemas.openxmlformats.org/officeDocument/2006/relationships/slide" Target="slide22.xml"/><Relationship Id="rId2" Type="http://schemas.openxmlformats.org/officeDocument/2006/relationships/image" Target="../media/image1.png"/><Relationship Id="rId16" Type="http://schemas.openxmlformats.org/officeDocument/2006/relationships/image" Target="../media/image7.png"/><Relationship Id="rId20" Type="http://schemas.openxmlformats.org/officeDocument/2006/relationships/slide" Target="slide3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slide" Target="slide8.xml"/><Relationship Id="rId5" Type="http://schemas.openxmlformats.org/officeDocument/2006/relationships/slide" Target="slide2.xml"/><Relationship Id="rId15" Type="http://schemas.openxmlformats.org/officeDocument/2006/relationships/image" Target="../media/image60.png"/><Relationship Id="rId10" Type="http://schemas.openxmlformats.org/officeDocument/2006/relationships/image" Target="../media/image5.png"/><Relationship Id="rId19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40.png"/><Relationship Id="rId14" Type="http://schemas.openxmlformats.org/officeDocument/2006/relationships/slide" Target="slide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1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21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5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8.png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png"/><Relationship Id="rId4" Type="http://schemas.openxmlformats.org/officeDocument/2006/relationships/image" Target="../media/image53.png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png"/><Relationship Id="rId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5.png"/><Relationship Id="rId4" Type="http://schemas.openxmlformats.org/officeDocument/2006/relationships/image" Target="../media/image47.png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png"/><Relationship Id="rId4" Type="http://schemas.openxmlformats.org/officeDocument/2006/relationships/image" Target="../media/image47.png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E15A62-1FA5-5555-D1BC-902D55ED3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CDC92B2-AD96-41CF-4D32-C25D59371188}"/>
              </a:ext>
            </a:extLst>
          </p:cNvPr>
          <p:cNvCxnSpPr/>
          <p:nvPr/>
        </p:nvCxnSpPr>
        <p:spPr>
          <a:xfrm flipH="1">
            <a:off x="2174240" y="6248400"/>
            <a:ext cx="943864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053D595-7409-2B4E-4F04-26ED26954F94}"/>
              </a:ext>
            </a:extLst>
          </p:cNvPr>
          <p:cNvCxnSpPr>
            <a:cxnSpLocks/>
          </p:cNvCxnSpPr>
          <p:nvPr/>
        </p:nvCxnSpPr>
        <p:spPr>
          <a:xfrm flipH="1" flipV="1">
            <a:off x="3841848" y="3938016"/>
            <a:ext cx="452376" cy="394953"/>
          </a:xfrm>
          <a:prstGeom prst="line">
            <a:avLst/>
          </a:prstGeom>
          <a:ln w="6350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5C5D34A-6248-4945-0E16-8588E1DF0E8A}"/>
              </a:ext>
            </a:extLst>
          </p:cNvPr>
          <p:cNvCxnSpPr/>
          <p:nvPr/>
        </p:nvCxnSpPr>
        <p:spPr>
          <a:xfrm flipV="1">
            <a:off x="2054352" y="4005072"/>
            <a:ext cx="499872" cy="384048"/>
          </a:xfrm>
          <a:prstGeom prst="line">
            <a:avLst/>
          </a:prstGeom>
          <a:ln w="6350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3933-2650-C545-0A13-0206D4009E71}"/>
              </a:ext>
            </a:extLst>
          </p:cNvPr>
          <p:cNvCxnSpPr/>
          <p:nvPr/>
        </p:nvCxnSpPr>
        <p:spPr>
          <a:xfrm flipV="1">
            <a:off x="5502950" y="3954109"/>
            <a:ext cx="499872" cy="384048"/>
          </a:xfrm>
          <a:prstGeom prst="line">
            <a:avLst/>
          </a:prstGeom>
          <a:ln w="6350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CA0CAF-F3DE-878B-EC0C-095A72C16320}"/>
              </a:ext>
            </a:extLst>
          </p:cNvPr>
          <p:cNvCxnSpPr>
            <a:cxnSpLocks/>
          </p:cNvCxnSpPr>
          <p:nvPr/>
        </p:nvCxnSpPr>
        <p:spPr>
          <a:xfrm>
            <a:off x="7382256" y="3870960"/>
            <a:ext cx="644878" cy="578987"/>
          </a:xfrm>
          <a:prstGeom prst="line">
            <a:avLst/>
          </a:prstGeom>
          <a:ln w="6350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C278C71-537B-DF54-50B7-2FD5D3A3B0F6}"/>
              </a:ext>
            </a:extLst>
          </p:cNvPr>
          <p:cNvCxnSpPr>
            <a:cxnSpLocks/>
          </p:cNvCxnSpPr>
          <p:nvPr/>
        </p:nvCxnSpPr>
        <p:spPr>
          <a:xfrm flipV="1">
            <a:off x="9265920" y="3838666"/>
            <a:ext cx="727524" cy="550454"/>
          </a:xfrm>
          <a:prstGeom prst="line">
            <a:avLst/>
          </a:prstGeom>
          <a:ln w="6350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2">
            <a:extLst>
              <a:ext uri="{FF2B5EF4-FFF2-40B4-BE49-F238E27FC236}">
                <a16:creationId xmlns:a16="http://schemas.microsoft.com/office/drawing/2014/main" id="{8072C721-96CB-698C-DE04-1A83FF3490C7}"/>
              </a:ext>
            </a:extLst>
          </p:cNvPr>
          <p:cNvSpPr/>
          <p:nvPr/>
        </p:nvSpPr>
        <p:spPr>
          <a:xfrm>
            <a:off x="5842001" y="-381000"/>
            <a:ext cx="7733471" cy="7339767"/>
          </a:xfrm>
          <a:custGeom>
            <a:avLst/>
            <a:gdLst/>
            <a:ahLst/>
            <a:cxnLst/>
            <a:rect l="l" t="t" r="r" b="b"/>
            <a:pathLst>
              <a:path w="11600207" h="11009651">
                <a:moveTo>
                  <a:pt x="0" y="0"/>
                </a:moveTo>
                <a:lnTo>
                  <a:pt x="11600207" y="0"/>
                </a:lnTo>
                <a:lnTo>
                  <a:pt x="11600207" y="11009651"/>
                </a:lnTo>
                <a:lnTo>
                  <a:pt x="0" y="110096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28D0E5D-3F5F-ED62-2A5B-EC205113E2AC}"/>
              </a:ext>
            </a:extLst>
          </p:cNvPr>
          <p:cNvSpPr txBox="1"/>
          <p:nvPr/>
        </p:nvSpPr>
        <p:spPr>
          <a:xfrm>
            <a:off x="7195289" y="1531934"/>
            <a:ext cx="3579775" cy="3786301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algn="ctr">
              <a:lnSpc>
                <a:spcPts val="1773"/>
              </a:lnSpc>
            </a:pPr>
            <a:endParaRPr sz="1200"/>
          </a:p>
        </p:txBody>
      </p:sp>
      <p:sp useBgFill="1">
        <p:nvSpPr>
          <p:cNvPr id="18" name="Freeform 18">
            <a:extLst>
              <a:ext uri="{FF2B5EF4-FFF2-40B4-BE49-F238E27FC236}">
                <a16:creationId xmlns:a16="http://schemas.microsoft.com/office/drawing/2014/main" id="{C6654A1A-0DE4-9F07-450A-B01DB63F255A}"/>
              </a:ext>
            </a:extLst>
          </p:cNvPr>
          <p:cNvSpPr/>
          <p:nvPr/>
        </p:nvSpPr>
        <p:spPr>
          <a:xfrm>
            <a:off x="3686401" y="1439386"/>
            <a:ext cx="612841" cy="612841"/>
          </a:xfrm>
          <a:custGeom>
            <a:avLst/>
            <a:gdLst/>
            <a:ahLst/>
            <a:cxnLst/>
            <a:rect l="l" t="t" r="r" b="b"/>
            <a:pathLst>
              <a:path w="919261" h="919261">
                <a:moveTo>
                  <a:pt x="0" y="0"/>
                </a:moveTo>
                <a:lnTo>
                  <a:pt x="919261" y="0"/>
                </a:lnTo>
                <a:lnTo>
                  <a:pt x="919261" y="919261"/>
                </a:lnTo>
                <a:lnTo>
                  <a:pt x="0" y="919261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 lang="en-US" sz="1200"/>
          </a:p>
        </p:txBody>
      </p: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9" name="Section Zoom 8">
                <a:extLst>
                  <a:ext uri="{FF2B5EF4-FFF2-40B4-BE49-F238E27FC236}">
                    <a16:creationId xmlns:a16="http://schemas.microsoft.com/office/drawing/2014/main" id="{59F7DA50-B2FA-6392-BA45-47916C67586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879511308"/>
                  </p:ext>
                </p:extLst>
              </p:nvPr>
            </p:nvGraphicFramePr>
            <p:xfrm>
              <a:off x="-107064" y="4075430"/>
              <a:ext cx="3048000" cy="1714500"/>
            </p:xfrm>
            <a:graphic>
              <a:graphicData uri="http://schemas.microsoft.com/office/powerpoint/2016/sectionzoom">
                <psez:sectionZm>
                  <psez:sectionZmObj sectionId="{2A98B0A6-DB63-47B0-AF98-E6244F23387C}">
                    <psez:zmPr id="{539E792B-4750-46C2-BE02-D8AC456E0D11}" transitionDur="1000" showBg="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9" name="Section Zoom 8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59F7DA50-B2FA-6392-BA45-47916C67586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107064" y="4075430"/>
                <a:ext cx="3048000" cy="1714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11" name="Section Zoom 10">
                <a:extLst>
                  <a:ext uri="{FF2B5EF4-FFF2-40B4-BE49-F238E27FC236}">
                    <a16:creationId xmlns:a16="http://schemas.microsoft.com/office/drawing/2014/main" id="{173CE9CF-ECB1-6B9C-FEF0-8BFD8A170E7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85174263"/>
                  </p:ext>
                </p:extLst>
              </p:nvPr>
            </p:nvGraphicFramePr>
            <p:xfrm>
              <a:off x="1648466" y="2567834"/>
              <a:ext cx="3048000" cy="1714500"/>
            </p:xfrm>
            <a:graphic>
              <a:graphicData uri="http://schemas.microsoft.com/office/powerpoint/2016/sectionzoom">
                <psez:sectionZm>
                  <psez:sectionZmObj sectionId="{E86CB88F-01C5-4413-A9CC-29B24BDBDA03}">
                    <psez:zmPr id="{F9BC9B4A-FEA1-4973-94DB-8192476D1F27}" transitionDur="1000" showBg="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11" name="Section Zoom 10">
                <a:hlinkClick r:id="rId8" action="ppaction://hlinksldjump"/>
                <a:extLst>
                  <a:ext uri="{FF2B5EF4-FFF2-40B4-BE49-F238E27FC236}">
                    <a16:creationId xmlns:a16="http://schemas.microsoft.com/office/drawing/2014/main" id="{173CE9CF-ECB1-6B9C-FEF0-8BFD8A170E7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8466" y="2567834"/>
                <a:ext cx="3048000" cy="1714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15" name="Section Zoom 14">
                <a:extLst>
                  <a:ext uri="{FF2B5EF4-FFF2-40B4-BE49-F238E27FC236}">
                    <a16:creationId xmlns:a16="http://schemas.microsoft.com/office/drawing/2014/main" id="{290DFF68-F2DF-0C8F-85BC-2882CB4546D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912246"/>
                  </p:ext>
                </p:extLst>
              </p:nvPr>
            </p:nvGraphicFramePr>
            <p:xfrm>
              <a:off x="3375910" y="4075430"/>
              <a:ext cx="3048000" cy="1714500"/>
            </p:xfrm>
            <a:graphic>
              <a:graphicData uri="http://schemas.microsoft.com/office/powerpoint/2016/sectionzoom">
                <psez:sectionZm>
                  <psez:sectionZmObj sectionId="{D24FC2C9-BB4D-402F-9368-976A2E2F65EF}">
                    <psez:zmPr id="{32555D1F-D1C3-477C-9986-51A0E3FEF70A}" transitionDur="1000" showBg="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15" name="Section Zoom 14">
                <a:hlinkClick r:id="rId11" action="ppaction://hlinksldjump"/>
                <a:extLst>
                  <a:ext uri="{FF2B5EF4-FFF2-40B4-BE49-F238E27FC236}">
                    <a16:creationId xmlns:a16="http://schemas.microsoft.com/office/drawing/2014/main" id="{290DFF68-F2DF-0C8F-85BC-2882CB4546D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375910" y="4075430"/>
                <a:ext cx="3048000" cy="1714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19" name="Section Zoom 18">
                <a:extLst>
                  <a:ext uri="{FF2B5EF4-FFF2-40B4-BE49-F238E27FC236}">
                    <a16:creationId xmlns:a16="http://schemas.microsoft.com/office/drawing/2014/main" id="{890DB34E-EF73-2325-8906-3B50AC9725D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475106"/>
                  </p:ext>
                </p:extLst>
              </p:nvPr>
            </p:nvGraphicFramePr>
            <p:xfrm>
              <a:off x="5131440" y="2567834"/>
              <a:ext cx="3048000" cy="1714500"/>
            </p:xfrm>
            <a:graphic>
              <a:graphicData uri="http://schemas.microsoft.com/office/powerpoint/2016/sectionzoom">
                <psez:sectionZm>
                  <psez:sectionZmObj sectionId="{961BFD44-71CC-4B18-B167-4829CC99B2F1}">
                    <psez:zmPr id="{D1FBA712-0DFC-41A3-B2E3-1F4A978B95AC}" transitionDur="1000" showBg="0">
                      <p166:blipFill xmlns:p166="http://schemas.microsoft.com/office/powerpoint/2016/6/main">
                        <a:blip r:embed="rId1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19" name="Section Zoom 18">
                <a:hlinkClick r:id="rId14" action="ppaction://hlinksldjump"/>
                <a:extLst>
                  <a:ext uri="{FF2B5EF4-FFF2-40B4-BE49-F238E27FC236}">
                    <a16:creationId xmlns:a16="http://schemas.microsoft.com/office/drawing/2014/main" id="{890DB34E-EF73-2325-8906-3B50AC9725D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131440" y="2567834"/>
                <a:ext cx="3048000" cy="1714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22" name="Section Zoom 21">
                <a:extLst>
                  <a:ext uri="{FF2B5EF4-FFF2-40B4-BE49-F238E27FC236}">
                    <a16:creationId xmlns:a16="http://schemas.microsoft.com/office/drawing/2014/main" id="{79DBA645-5920-763B-C49B-AFEA43A788D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43528872"/>
                  </p:ext>
                </p:extLst>
              </p:nvPr>
            </p:nvGraphicFramePr>
            <p:xfrm>
              <a:off x="7156133" y="4140945"/>
              <a:ext cx="3048000" cy="1714500"/>
            </p:xfrm>
            <a:graphic>
              <a:graphicData uri="http://schemas.microsoft.com/office/powerpoint/2016/sectionzoom">
                <psez:sectionZm>
                  <psez:sectionZmObj sectionId="{1B0EBED0-A023-46A0-9D61-401D0272F578}">
                    <psez:zmPr id="{387E8CBB-2560-496B-94F9-CCE4F8DEA685}" transitionDur="1000" showBg="0">
                      <p166:blipFill xmlns:p166="http://schemas.microsoft.com/office/powerpoint/2016/6/main">
                        <a:blip r:embed="rId1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22" name="Section Zoom 21">
                <a:hlinkClick r:id="rId17" action="ppaction://hlinksldjump"/>
                <a:extLst>
                  <a:ext uri="{FF2B5EF4-FFF2-40B4-BE49-F238E27FC236}">
                    <a16:creationId xmlns:a16="http://schemas.microsoft.com/office/drawing/2014/main" id="{79DBA645-5920-763B-C49B-AFEA43A788D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156133" y="4140945"/>
                <a:ext cx="3048000" cy="1714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24" name="Section Zoom 23">
                <a:extLst>
                  <a:ext uri="{FF2B5EF4-FFF2-40B4-BE49-F238E27FC236}">
                    <a16:creationId xmlns:a16="http://schemas.microsoft.com/office/drawing/2014/main" id="{E13BBD67-E28F-0EFF-D9F0-8CC7DFF5F61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2737744"/>
                  </p:ext>
                </p:extLst>
              </p:nvPr>
            </p:nvGraphicFramePr>
            <p:xfrm>
              <a:off x="9080352" y="2431633"/>
              <a:ext cx="3048000" cy="1714500"/>
            </p:xfrm>
            <a:graphic>
              <a:graphicData uri="http://schemas.microsoft.com/office/powerpoint/2016/sectionzoom">
                <psez:sectionZm>
                  <psez:sectionZmObj sectionId="{E1BD1089-7951-4C6D-A36E-CE353DCE8327}">
                    <psez:zmPr id="{AE872A72-CD28-416C-A29A-C61E625F3491}" transitionDur="1000" showBg="0">
                      <p166:blipFill xmlns:p166="http://schemas.microsoft.com/office/powerpoint/2016/6/main">
                        <a:blip r:embed="rId1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24" name="Section Zoom 23">
                <a:hlinkClick r:id="rId20" action="ppaction://hlinksldjump"/>
                <a:extLst>
                  <a:ext uri="{FF2B5EF4-FFF2-40B4-BE49-F238E27FC236}">
                    <a16:creationId xmlns:a16="http://schemas.microsoft.com/office/drawing/2014/main" id="{E13BBD67-E28F-0EFF-D9F0-8CC7DFF5F61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080352" y="2431633"/>
                <a:ext cx="3048000" cy="171450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C49DBC6D-7CD9-29ED-E24A-80810E4C66B7}"/>
              </a:ext>
            </a:extLst>
          </p:cNvPr>
          <p:cNvSpPr txBox="1"/>
          <p:nvPr/>
        </p:nvSpPr>
        <p:spPr>
          <a:xfrm>
            <a:off x="2398898" y="978570"/>
            <a:ext cx="739420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Why Do People Spend So Much</a:t>
            </a:r>
            <a:endParaRPr lang="ar-OM" sz="4000" b="1" dirty="0">
              <a:solidFill>
                <a:schemeClr val="bg1"/>
              </a:solidFill>
            </a:endParaRP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 Time on Their Screens?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0286B7-01A8-7D9E-793A-68D47AA79452}"/>
              </a:ext>
            </a:extLst>
          </p:cNvPr>
          <p:cNvSpPr txBox="1"/>
          <p:nvPr/>
        </p:nvSpPr>
        <p:spPr>
          <a:xfrm>
            <a:off x="4897142" y="6374441"/>
            <a:ext cx="49151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Fatima </a:t>
            </a:r>
            <a:r>
              <a:rPr lang="en-US" sz="2000" dirty="0" err="1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Al-Amri</a:t>
            </a:r>
            <a:r>
              <a:rPr lang="en-US" sz="20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 &amp;  </a:t>
            </a:r>
            <a:r>
              <a:rPr lang="en-US" sz="2000" b="1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Ashgan Al Shamali</a:t>
            </a:r>
            <a:r>
              <a:rPr lang="en-US" sz="20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 </a:t>
            </a:r>
          </a:p>
          <a:p>
            <a:r>
              <a:rPr lang="en-US" sz="20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75109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F51EA4AB-4174-55A8-7F44-1F1BE313343C}"/>
              </a:ext>
            </a:extLst>
          </p:cNvPr>
          <p:cNvSpPr/>
          <p:nvPr/>
        </p:nvSpPr>
        <p:spPr>
          <a:xfrm>
            <a:off x="2626468" y="214008"/>
            <a:ext cx="6939064" cy="6429984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AC4581-FA6F-92F8-40D6-ED0A4F68D222}"/>
              </a:ext>
            </a:extLst>
          </p:cNvPr>
          <p:cNvSpPr txBox="1"/>
          <p:nvPr/>
        </p:nvSpPr>
        <p:spPr>
          <a:xfrm>
            <a:off x="3576786" y="4260715"/>
            <a:ext cx="5017720" cy="110799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Introduction</a:t>
            </a:r>
          </a:p>
        </p:txBody>
      </p:sp>
      <p:pic>
        <p:nvPicPr>
          <p:cNvPr id="8" name="Graphic 7" descr="Lightbulb with solid fill">
            <a:extLst>
              <a:ext uri="{FF2B5EF4-FFF2-40B4-BE49-F238E27FC236}">
                <a16:creationId xmlns:a16="http://schemas.microsoft.com/office/drawing/2014/main" id="{CA2A3DDF-0472-CA38-44B1-E314159FD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0100" y="1111385"/>
            <a:ext cx="2971800" cy="29718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81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57D72678-DBE3-1FF1-64D6-AB39E44042C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0495A22-42CD-055E-36BB-D6DF1CC8D96F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3765F8B-16C9-B3C6-8C69-06399DECB684}"/>
              </a:ext>
            </a:extLst>
          </p:cNvPr>
          <p:cNvSpPr/>
          <p:nvPr/>
        </p:nvSpPr>
        <p:spPr>
          <a:xfrm rot="1524148">
            <a:off x="10403384" y="3866245"/>
            <a:ext cx="695985" cy="2933923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C95796D-521B-4547-A195-AC6C622D93AF}"/>
              </a:ext>
            </a:extLst>
          </p:cNvPr>
          <p:cNvSpPr/>
          <p:nvPr/>
        </p:nvSpPr>
        <p:spPr>
          <a:xfrm rot="1524148">
            <a:off x="9797019" y="2485871"/>
            <a:ext cx="838200" cy="370332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31CF496-58FD-88C3-B401-C0CE46389CBD}"/>
              </a:ext>
            </a:extLst>
          </p:cNvPr>
          <p:cNvSpPr/>
          <p:nvPr/>
        </p:nvSpPr>
        <p:spPr>
          <a:xfrm rot="1524148">
            <a:off x="9279865" y="1334636"/>
            <a:ext cx="838200" cy="370332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93535E5-06B4-0454-567F-32CDE95BF0C8}"/>
              </a:ext>
            </a:extLst>
          </p:cNvPr>
          <p:cNvSpPr/>
          <p:nvPr/>
        </p:nvSpPr>
        <p:spPr>
          <a:xfrm rot="1524148">
            <a:off x="2374494" y="3835764"/>
            <a:ext cx="695985" cy="2933923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D06AFCC-2C89-3763-BAFC-DFF52FB88E74}"/>
              </a:ext>
            </a:extLst>
          </p:cNvPr>
          <p:cNvSpPr/>
          <p:nvPr/>
        </p:nvSpPr>
        <p:spPr>
          <a:xfrm rot="1524148">
            <a:off x="1768129" y="2455390"/>
            <a:ext cx="838200" cy="370332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55D8606-5448-9937-077A-843751ED5DEE}"/>
              </a:ext>
            </a:extLst>
          </p:cNvPr>
          <p:cNvSpPr/>
          <p:nvPr/>
        </p:nvSpPr>
        <p:spPr>
          <a:xfrm rot="1524148">
            <a:off x="1250975" y="1304155"/>
            <a:ext cx="838200" cy="370332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68D4C1-5CA7-0FF3-5125-2554D6E71582}"/>
              </a:ext>
            </a:extLst>
          </p:cNvPr>
          <p:cNvSpPr txBox="1"/>
          <p:nvPr/>
        </p:nvSpPr>
        <p:spPr>
          <a:xfrm>
            <a:off x="2488282" y="1807075"/>
            <a:ext cx="7215437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Introduction</a:t>
            </a:r>
          </a:p>
        </p:txBody>
      </p:sp>
      <p:pic>
        <p:nvPicPr>
          <p:cNvPr id="6" name="Graphic 5" descr="Lightbulb with solid fill">
            <a:extLst>
              <a:ext uri="{FF2B5EF4-FFF2-40B4-BE49-F238E27FC236}">
                <a16:creationId xmlns:a16="http://schemas.microsoft.com/office/drawing/2014/main" id="{E099F785-D273-5933-C230-F9F22897CA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75580" y="148375"/>
            <a:ext cx="1699260" cy="169926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72B9B7A-C035-3EA6-73BB-48446802EBC9}"/>
              </a:ext>
            </a:extLst>
          </p:cNvPr>
          <p:cNvSpPr txBox="1"/>
          <p:nvPr/>
        </p:nvSpPr>
        <p:spPr>
          <a:xfrm>
            <a:off x="2006132" y="3257529"/>
            <a:ext cx="7537281" cy="3376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khbar MT" pitchFamily="2" charset="-78"/>
              </a:rPr>
              <a:t>People spend hours on their phones, computers, and TVs for convenience, connection, and instant information.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khbar MT" pitchFamily="2" charset="-78"/>
              </a:rPr>
              <a:t>Social media and online platforms are designed to attract attention and keep users engaged for long periods.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khbar MT" pitchFamily="2" charset="-78"/>
              </a:rPr>
              <a:t>Many turn to screens for relaxation, escape from stress, or staying socially connected.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khbar MT" pitchFamily="2" charset="-78"/>
              </a:rPr>
              <a:t>This project explores the main reasons why people spend so much time on their screens using real-world data.</a:t>
            </a:r>
          </a:p>
        </p:txBody>
      </p:sp>
    </p:spTree>
    <p:extLst>
      <p:ext uri="{BB962C8B-B14F-4D97-AF65-F5344CB8AC3E}">
        <p14:creationId xmlns:p14="http://schemas.microsoft.com/office/powerpoint/2010/main" val="24076762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repeatCount="indefinite" accel="50000" decel="50000" autoRev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3 4.81481E-6 L 0.03815 -0.1490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745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4" presetClass="path" presetSubtype="0" repeatCount="indefinite" accel="50000" decel="50000" autoRev="1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.0013 7.40741E-7 L 0.03815 -0.14907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7454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64" presetClass="path" presetSubtype="0" repeatCount="indefinite" accel="50000" decel="50000" autoRev="1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.0013 1.85185E-6 L 0.03815 -0.14908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7454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4" presetClass="path" presetSubtype="0" repeatCount="indefinite" accel="50000" decel="50000" autoRev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31 -3.33333E-6 L 0.03815 -0.14907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7454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64" presetClass="path" presetSubtype="0" repeatCount="indefinite" accel="50000" decel="50000" autoRev="1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.0013 2.59259E-6 L 0.03815 -0.14908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7454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4" presetClass="path" presetSubtype="0" repeatCount="indefinite" accel="50000" decel="50000" autoRev="1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.0013 3.7037E-6 L 0.03815 -0.1490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74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17" grpId="0" animBg="1"/>
      <p:bldP spid="16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8C37DC-A245-75D3-807D-4B7BF5A17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42D2AC79-F063-8689-24F8-BF729D086A0D}"/>
              </a:ext>
            </a:extLst>
          </p:cNvPr>
          <p:cNvSpPr/>
          <p:nvPr/>
        </p:nvSpPr>
        <p:spPr>
          <a:xfrm>
            <a:off x="2626468" y="214008"/>
            <a:ext cx="6939064" cy="6429984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644F76-B53C-4896-3FCB-058DB8D8F5FA}"/>
              </a:ext>
            </a:extLst>
          </p:cNvPr>
          <p:cNvSpPr txBox="1"/>
          <p:nvPr/>
        </p:nvSpPr>
        <p:spPr>
          <a:xfrm>
            <a:off x="4562306" y="4260715"/>
            <a:ext cx="3244799" cy="110799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lvl="0"/>
            <a:r>
              <a:rPr lang="en-US" sz="6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Dataset</a:t>
            </a:r>
            <a:endParaRPr kumimoji="0" lang="en-US" sz="6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haroni" panose="020F0502020204030204" pitchFamily="2" charset="-79"/>
              <a:ea typeface="+mn-ea"/>
              <a:cs typeface="Aharoni" panose="020F0502020204030204" pitchFamily="2" charset="-79"/>
            </a:endParaRPr>
          </a:p>
        </p:txBody>
      </p:sp>
      <p:pic>
        <p:nvPicPr>
          <p:cNvPr id="5" name="Graphic 4" descr="Search Inventory with solid fill">
            <a:extLst>
              <a:ext uri="{FF2B5EF4-FFF2-40B4-BE49-F238E27FC236}">
                <a16:creationId xmlns:a16="http://schemas.microsoft.com/office/drawing/2014/main" id="{B473F000-EB93-5A81-1DEB-2E0556344E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0100" y="1111385"/>
            <a:ext cx="2971800" cy="29718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57843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21422A-2E07-C493-4236-4B312A82C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56E37983-EB54-30E0-6271-596F25290B1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FA0CC92-311F-A6B5-5FB8-3382581587A8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E92E21-3386-9542-199B-A2F2797D68D6}"/>
              </a:ext>
            </a:extLst>
          </p:cNvPr>
          <p:cNvSpPr txBox="1"/>
          <p:nvPr/>
        </p:nvSpPr>
        <p:spPr>
          <a:xfrm>
            <a:off x="3777096" y="1807075"/>
            <a:ext cx="4637808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lvl="0"/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Dataset</a:t>
            </a:r>
            <a:endParaRPr kumimoji="0" lang="en-US" sz="9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haroni" panose="020F0502020204030204" pitchFamily="2" charset="-79"/>
              <a:ea typeface="+mn-ea"/>
              <a:cs typeface="Aharoni" panose="020F0502020204030204" pitchFamily="2" charset="-79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F5CFDE-0B0F-2376-1D07-79C36C6E396A}"/>
              </a:ext>
            </a:extLst>
          </p:cNvPr>
          <p:cNvSpPr txBox="1"/>
          <p:nvPr/>
        </p:nvSpPr>
        <p:spPr>
          <a:xfrm>
            <a:off x="586961" y="3441412"/>
            <a:ext cx="560282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Two datasets were used:</a:t>
            </a:r>
          </a:p>
          <a:p>
            <a:pPr marL="742950" lvl="1" indent="-285750" algn="just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</a:rPr>
              <a:t> Mental Health &amp; Technology Usage 2024</a:t>
            </a:r>
          </a:p>
          <a:p>
            <a:pPr marL="742950" lvl="1" indent="-285750" algn="just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</a:rPr>
              <a:t>Screen Time &amp; App Usage Data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The first covers stress, sleep, and tech habits.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The second tracks daily app use by category.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Merging them gave a full view of why people spend so much time on their screens.</a:t>
            </a:r>
          </a:p>
        </p:txBody>
      </p:sp>
      <p:pic>
        <p:nvPicPr>
          <p:cNvPr id="2" name="Graphic 1" descr="Search Inventory with solid fill">
            <a:extLst>
              <a:ext uri="{FF2B5EF4-FFF2-40B4-BE49-F238E27FC236}">
                <a16:creationId xmlns:a16="http://schemas.microsoft.com/office/drawing/2014/main" id="{227F65B7-CFBC-1196-77D1-D9FF0DAB6B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73309" y="367700"/>
            <a:ext cx="1700784" cy="1700784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0251B2-28DE-1C44-75A7-A5E98A0BFC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6746" y="3429000"/>
            <a:ext cx="4909487" cy="20167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7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A36F9E-0F38-B598-D296-FE5002C5722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3271" r="15405"/>
          <a:stretch>
            <a:fillRect/>
          </a:stretch>
        </p:blipFill>
        <p:spPr>
          <a:xfrm>
            <a:off x="6776746" y="5725909"/>
            <a:ext cx="4909486" cy="8519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21022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D0AC4-0641-E3FA-AD00-E9094BB6B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677EB540-C245-C59C-FF87-E217B0104DD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34B55524-13E8-9B54-FEB6-B69427ABA0EF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EF1CF6-08C5-59EE-05B5-778DD9CA4CA1}"/>
              </a:ext>
            </a:extLst>
          </p:cNvPr>
          <p:cNvSpPr txBox="1"/>
          <p:nvPr/>
        </p:nvSpPr>
        <p:spPr>
          <a:xfrm>
            <a:off x="3777096" y="1807075"/>
            <a:ext cx="4637808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lvl="0"/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Dataset</a:t>
            </a:r>
            <a:endParaRPr kumimoji="0" lang="en-US" sz="9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haroni" panose="020F0502020204030204" pitchFamily="2" charset="-79"/>
              <a:ea typeface="+mn-ea"/>
              <a:cs typeface="Aharoni" panose="020F0502020204030204" pitchFamily="2" charset="-79"/>
            </a:endParaRPr>
          </a:p>
        </p:txBody>
      </p:sp>
      <p:pic>
        <p:nvPicPr>
          <p:cNvPr id="2" name="Graphic 1" descr="Search Inventory with solid fill">
            <a:extLst>
              <a:ext uri="{FF2B5EF4-FFF2-40B4-BE49-F238E27FC236}">
                <a16:creationId xmlns:a16="http://schemas.microsoft.com/office/drawing/2014/main" id="{CB2F6857-40B4-4588-BBE3-DCC069E06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73309" y="367700"/>
            <a:ext cx="1700784" cy="1700784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092A23-25F5-CA31-F937-8A5C9E2420E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765"/>
          <a:stretch>
            <a:fillRect/>
          </a:stretch>
        </p:blipFill>
        <p:spPr>
          <a:xfrm>
            <a:off x="176544" y="3096405"/>
            <a:ext cx="6112129" cy="36156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F11B37-15DE-579D-BFEE-F7BDE4CF390C}"/>
              </a:ext>
            </a:extLst>
          </p:cNvPr>
          <p:cNvSpPr txBox="1"/>
          <p:nvPr/>
        </p:nvSpPr>
        <p:spPr>
          <a:xfrm>
            <a:off x="6812564" y="5572046"/>
            <a:ext cx="33949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The merged dataset contains 2,545 rows and 38 columns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4E91052-C622-8EC4-060F-CE646217B5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7029" y="4658079"/>
            <a:ext cx="2415749" cy="5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8654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45443-8062-0A99-A097-B7D867430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641D7FEC-CAAB-30D5-585C-8452EDA6B83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279791FF-6BA1-B7E7-5950-B251DD83098B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DF36E6-196F-FE92-D81A-CC4A1B992635}"/>
              </a:ext>
            </a:extLst>
          </p:cNvPr>
          <p:cNvSpPr txBox="1"/>
          <p:nvPr/>
        </p:nvSpPr>
        <p:spPr>
          <a:xfrm>
            <a:off x="3777096" y="1807075"/>
            <a:ext cx="4637808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lvl="0"/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Dataset</a:t>
            </a:r>
            <a:endParaRPr kumimoji="0" lang="en-US" sz="9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haroni" panose="020F0502020204030204" pitchFamily="2" charset="-79"/>
              <a:ea typeface="+mn-ea"/>
              <a:cs typeface="Aharoni" panose="020F0502020204030204" pitchFamily="2" charset="-79"/>
            </a:endParaRPr>
          </a:p>
        </p:txBody>
      </p:sp>
      <p:pic>
        <p:nvPicPr>
          <p:cNvPr id="2" name="Graphic 1" descr="Search Inventory with solid fill">
            <a:extLst>
              <a:ext uri="{FF2B5EF4-FFF2-40B4-BE49-F238E27FC236}">
                <a16:creationId xmlns:a16="http://schemas.microsoft.com/office/drawing/2014/main" id="{067D25F7-9B97-8762-FCE5-541DD95BCB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73309" y="367700"/>
            <a:ext cx="1700784" cy="1700784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790A75-F4DA-7565-59F4-9F9ACB2725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67" y="4371826"/>
            <a:ext cx="4403122" cy="211365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379A6A0-2A97-B6E4-03BE-DDA906DCFC1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4044"/>
          <a:stretch>
            <a:fillRect/>
          </a:stretch>
        </p:blipFill>
        <p:spPr>
          <a:xfrm>
            <a:off x="6362359" y="3672785"/>
            <a:ext cx="2583305" cy="279865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FEECABB-4C08-C0E7-03CD-03E0F1EF0F05}"/>
              </a:ext>
            </a:extLst>
          </p:cNvPr>
          <p:cNvSpPr txBox="1"/>
          <p:nvPr/>
        </p:nvSpPr>
        <p:spPr>
          <a:xfrm>
            <a:off x="398834" y="3395472"/>
            <a:ext cx="47276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We found that after merging, the dataset contains (38 columns), and their names are shown below.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FDE18B-4465-8A29-8540-613AA3634144}"/>
              </a:ext>
            </a:extLst>
          </p:cNvPr>
          <p:cNvSpPr txBox="1"/>
          <p:nvPr/>
        </p:nvSpPr>
        <p:spPr>
          <a:xfrm>
            <a:off x="9054953" y="3960573"/>
            <a:ext cx="290034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The check for missing values shows that most columns are complete, but three columns </a:t>
            </a:r>
            <a:r>
              <a:rPr lang="en-US" dirty="0" err="1">
                <a:solidFill>
                  <a:schemeClr val="bg1"/>
                </a:solidFill>
                <a:latin typeface="Abadi" panose="020B0604020104020204" pitchFamily="34" charset="0"/>
              </a:rPr>
              <a:t>youtube</a:t>
            </a:r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 views, </a:t>
            </a:r>
            <a:r>
              <a:rPr lang="en-US" dirty="0" err="1">
                <a:solidFill>
                  <a:schemeClr val="bg1"/>
                </a:solidFill>
                <a:latin typeface="Abadi" panose="020B0604020104020204" pitchFamily="34" charset="0"/>
              </a:rPr>
              <a:t>youtube</a:t>
            </a:r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 likes, and </a:t>
            </a:r>
            <a:r>
              <a:rPr lang="en-US" dirty="0" err="1">
                <a:solidFill>
                  <a:schemeClr val="bg1"/>
                </a:solidFill>
                <a:latin typeface="Abadi" panose="020B0604020104020204" pitchFamily="34" charset="0"/>
              </a:rPr>
              <a:t>youtube</a:t>
            </a:r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 comments  each have 2,386 missing values.</a:t>
            </a:r>
          </a:p>
        </p:txBody>
      </p:sp>
    </p:spTree>
    <p:extLst>
      <p:ext uri="{BB962C8B-B14F-4D97-AF65-F5344CB8AC3E}">
        <p14:creationId xmlns:p14="http://schemas.microsoft.com/office/powerpoint/2010/main" val="25405170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9850E-28E7-E0E9-413F-62C74A500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2F6CC8C6-8D73-2649-5F6E-172BA4C958B8}"/>
              </a:ext>
            </a:extLst>
          </p:cNvPr>
          <p:cNvSpPr/>
          <p:nvPr/>
        </p:nvSpPr>
        <p:spPr>
          <a:xfrm>
            <a:off x="2626468" y="214008"/>
            <a:ext cx="6939064" cy="6429984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CC07C-1842-A686-F7AC-CBD31823313D}"/>
              </a:ext>
            </a:extLst>
          </p:cNvPr>
          <p:cNvSpPr txBox="1"/>
          <p:nvPr/>
        </p:nvSpPr>
        <p:spPr>
          <a:xfrm>
            <a:off x="3477089" y="4179323"/>
            <a:ext cx="5306261" cy="101566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 Cleaning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375FB6-C6BE-DB79-3772-D27C66223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1244417"/>
            <a:ext cx="29718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57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2DFD89-AD58-746F-F042-47595BF4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693C0EB7-F59D-A5DB-36B5-85FD58C754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4834DF27-4CB8-9786-0616-0F1D459CE27D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ED72B-6589-BF01-CFC0-65DE82FA0FFF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Cleaning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4EC023-C06D-CB12-AB30-F3214BEBC9A2}"/>
              </a:ext>
            </a:extLst>
          </p:cNvPr>
          <p:cNvSpPr txBox="1"/>
          <p:nvPr/>
        </p:nvSpPr>
        <p:spPr>
          <a:xfrm>
            <a:off x="426720" y="3390612"/>
            <a:ext cx="611428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prstClr val="white"/>
                </a:solidFill>
              </a:rPr>
              <a:t>Removed irrelevant and duplicate columns from both datasets.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prstClr val="white"/>
                </a:solidFill>
              </a:rPr>
              <a:t>Converted screen time from minutes to hours for consistency.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prstClr val="white"/>
                </a:solidFill>
              </a:rPr>
              <a:t>Merged datasets using Screen_Time_Hours as a common field.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prstClr val="white"/>
                </a:solidFill>
              </a:rPr>
              <a:t>Handled missing values and ensured data types were consistent.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prstClr val="white"/>
                </a:solidFill>
              </a:rPr>
              <a:t>Engineered new features such as: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prstClr val="white"/>
                </a:solidFill>
              </a:rPr>
              <a:t>▫ Heavy User Indicator (≥ 120 mins/day)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prstClr val="white"/>
                </a:solidFill>
              </a:rPr>
              <a:t>▫ Digital Well-Being Index = (Sleep – Social Media) / (Stress + 1)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EAFECE9-A361-D6B1-FCAC-2E92940995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55" r="25163"/>
          <a:stretch>
            <a:fillRect/>
          </a:stretch>
        </p:blipFill>
        <p:spPr>
          <a:xfrm>
            <a:off x="6932515" y="3779980"/>
            <a:ext cx="4591047" cy="10576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718B1E6-3CA2-79D5-6D4B-4D008354A9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2455" r="6998" b="14620"/>
          <a:stretch>
            <a:fillRect/>
          </a:stretch>
        </p:blipFill>
        <p:spPr>
          <a:xfrm>
            <a:off x="6840319" y="5539099"/>
            <a:ext cx="4683243" cy="881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619B050-5D4F-935D-29AF-ED9D8F3CFE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5608" y="250794"/>
            <a:ext cx="1700784" cy="170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629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4F184-736B-CB13-CDD3-2BD159AB6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02DC9DA4-31C7-5ABD-A871-AE62F62827F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3793511-2226-45D7-5B38-36B104F114FA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9B47B5-E213-18E5-1629-E95705EB4377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Cleaning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4254F4F-D238-6836-691D-677E04B6FD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250794"/>
            <a:ext cx="1700784" cy="17007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36446F-89FB-F21D-E1EA-141B45B18D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884" y="3740072"/>
            <a:ext cx="5121084" cy="12726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970146A-FA15-C720-447A-CC3598E4D8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7135" y="3747692"/>
            <a:ext cx="5616427" cy="12650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52C4BD-6292-4927-672E-8BB2D46E0088}"/>
              </a:ext>
            </a:extLst>
          </p:cNvPr>
          <p:cNvSpPr txBox="1"/>
          <p:nvPr/>
        </p:nvSpPr>
        <p:spPr>
          <a:xfrm>
            <a:off x="768485" y="5294878"/>
            <a:ext cx="44790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Removes extra spaces from column names and text values.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7D7701-BDFE-96E4-529E-A0962A773C2E}"/>
              </a:ext>
            </a:extLst>
          </p:cNvPr>
          <p:cNvSpPr txBox="1"/>
          <p:nvPr/>
        </p:nvSpPr>
        <p:spPr>
          <a:xfrm>
            <a:off x="6197594" y="5343826"/>
            <a:ext cx="47276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Fill missing values using mean for numeric and mode for text columns.</a:t>
            </a:r>
          </a:p>
        </p:txBody>
      </p:sp>
    </p:spTree>
    <p:extLst>
      <p:ext uri="{BB962C8B-B14F-4D97-AF65-F5344CB8AC3E}">
        <p14:creationId xmlns:p14="http://schemas.microsoft.com/office/powerpoint/2010/main" val="26936632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EB53F-5060-3F26-3675-C20676DE2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9CD78C38-F73D-BC21-F045-D248A9153B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811E5B6F-9345-042B-21AB-62C92CD1E38B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8216BE-2FC1-261C-E8FB-60E57A11D296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Cleaning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CF3584-0707-6A2F-A3A7-C59677C766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250794"/>
            <a:ext cx="1700784" cy="17007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FE203CE-4AC3-8C31-32FD-F3C10CDBC7AA}"/>
              </a:ext>
            </a:extLst>
          </p:cNvPr>
          <p:cNvSpPr txBox="1"/>
          <p:nvPr/>
        </p:nvSpPr>
        <p:spPr>
          <a:xfrm>
            <a:off x="757234" y="5927078"/>
            <a:ext cx="44790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Drop unnecessary or extra columns from the dataset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FD5CF7-3C0B-7BC0-A8E7-DE5B7A2F4A68}"/>
              </a:ext>
            </a:extLst>
          </p:cNvPr>
          <p:cNvSpPr txBox="1"/>
          <p:nvPr/>
        </p:nvSpPr>
        <p:spPr>
          <a:xfrm>
            <a:off x="6341382" y="5012722"/>
            <a:ext cx="35984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After data cleaning the dataset has 2,545 rows and 16 columns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1795F5-6392-19EE-4290-7D3EEFA11F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434" y="3529039"/>
            <a:ext cx="5355082" cy="235170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00EB23-FA5C-4F69-B115-7BDA9691E4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0132" y="3813775"/>
            <a:ext cx="2860984" cy="1034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153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C12D3-46A7-1D4E-AD0F-DCE60E642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52F4CA82-5009-FB8D-C0C8-111841FF191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14A7490B-F559-2CC4-5A73-01EAB8BAFEEE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80C289-1942-0AE5-ED63-6EFF49812467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Cleaning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D81F70-BBCD-70F9-2C9F-CD0783376D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250794"/>
            <a:ext cx="1700784" cy="17007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406D0AD-BABD-2E65-031C-3F4D3A342A3C}"/>
              </a:ext>
            </a:extLst>
          </p:cNvPr>
          <p:cNvSpPr txBox="1"/>
          <p:nvPr/>
        </p:nvSpPr>
        <p:spPr>
          <a:xfrm>
            <a:off x="893421" y="5810346"/>
            <a:ext cx="48069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Select a random sample of 1000 rows to simplify analysis and reduce dataset size.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6DE779-7B31-725F-7A61-93822DB3A0FC}"/>
              </a:ext>
            </a:extLst>
          </p:cNvPr>
          <p:cNvSpPr txBox="1"/>
          <p:nvPr/>
        </p:nvSpPr>
        <p:spPr>
          <a:xfrm>
            <a:off x="7325772" y="5288752"/>
            <a:ext cx="3598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solidFill>
                  <a:schemeClr val="bg1"/>
                </a:solidFill>
              </a:rPr>
              <a:t>Shape after cleaning: (1000, 16)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3F1711-A15B-9073-E641-88AA0CC648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630" y="3699680"/>
            <a:ext cx="5619028" cy="19584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D2CBE6E-0781-1128-E676-F921CDCA7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8" y="4136972"/>
            <a:ext cx="4472060" cy="108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6887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B9FA41-913C-F0F7-6F9A-EC8211851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B90AC05A-D766-B1AF-D8E7-31AC91B53B8C}"/>
              </a:ext>
            </a:extLst>
          </p:cNvPr>
          <p:cNvSpPr/>
          <p:nvPr/>
        </p:nvSpPr>
        <p:spPr>
          <a:xfrm>
            <a:off x="2626468" y="214008"/>
            <a:ext cx="6939064" cy="6429984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31D412-4245-DB86-E851-BEF370BAC4C3}"/>
              </a:ext>
            </a:extLst>
          </p:cNvPr>
          <p:cNvSpPr txBox="1"/>
          <p:nvPr/>
        </p:nvSpPr>
        <p:spPr>
          <a:xfrm>
            <a:off x="3477089" y="4179323"/>
            <a:ext cx="5192447" cy="101566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 </a:t>
            </a:r>
            <a:r>
              <a:rPr lang="en-US" sz="60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Analysis</a:t>
            </a: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haroni" panose="020F0502020204030204" pitchFamily="2" charset="-79"/>
              <a:ea typeface="+mn-ea"/>
              <a:cs typeface="Aharoni" panose="020F0502020204030204" pitchFamily="2" charset="-79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AD8861-6651-7B6E-DE29-2EF269791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1207523"/>
            <a:ext cx="29718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605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58A645-BC55-4680-29DB-636A33AFF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E8745E1E-2252-FFD7-C9A9-10957F5F05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293A4A32-81A0-3175-A084-F859A7C61B28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7DBE01-0F58-40E4-98CC-6B8E28A041A6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Analysis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73B7C-ADA2-1CF5-6E56-66A97C2C9B71}"/>
              </a:ext>
            </a:extLst>
          </p:cNvPr>
          <p:cNvSpPr txBox="1"/>
          <p:nvPr/>
        </p:nvSpPr>
        <p:spPr>
          <a:xfrm>
            <a:off x="426720" y="3390612"/>
            <a:ext cx="429768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Explored the structure and content of the dataset.</a:t>
            </a:r>
            <a:endParaRPr kumimoji="0" lang="ar-OM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Reviewed data types, column names, and basic statistics.</a:t>
            </a:r>
            <a:endParaRPr kumimoji="0" lang="ar-OM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Checked for missing values and inconsistencies.</a:t>
            </a:r>
            <a:endParaRPr kumimoji="0" lang="ar-OM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Identified key variables related to screen time and mental health.</a:t>
            </a:r>
            <a:endParaRPr kumimoji="0" lang="ar-OM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Prepared the data for deeper insights and visualization.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AE7C5E-0B63-6AB7-90BC-D936B17333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5608" y="302855"/>
            <a:ext cx="1700784" cy="17007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225DF6D-7FA6-F250-0F23-FB547DEEBFD4}"/>
              </a:ext>
            </a:extLst>
          </p:cNvPr>
          <p:cNvSpPr txBox="1"/>
          <p:nvPr/>
        </p:nvSpPr>
        <p:spPr>
          <a:xfrm>
            <a:off x="5245608" y="6084090"/>
            <a:ext cx="6866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Show the first 5 rows of the dataset to preview data after cleaning.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142E0E-2FE9-212C-A368-17023DB228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120" y="3416588"/>
            <a:ext cx="6614160" cy="2438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87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E4274-DE84-F7B9-A0E9-727B3E6C8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C36DDF17-CFC3-ECD5-8020-E3F362AB260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0F798428-F221-ECC7-24AC-5098E54C4AD3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3CA753-A2A2-37E6-5179-2ABC3895F608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Analysis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FDC282D-FEE6-8AB5-197E-E2D0C5B04B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302855"/>
            <a:ext cx="1700784" cy="17007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81FA2E-5A0E-35EB-EC6D-2EBE6276B57D}"/>
              </a:ext>
            </a:extLst>
          </p:cNvPr>
          <p:cNvSpPr txBox="1"/>
          <p:nvPr/>
        </p:nvSpPr>
        <p:spPr>
          <a:xfrm>
            <a:off x="5245608" y="4522222"/>
            <a:ext cx="46817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Display detailed info about columns, data types, non-null counts, and memory usage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DC2A2D-0439-5C06-BAF9-9AFD87F00F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080" y="3261527"/>
            <a:ext cx="3918580" cy="3445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994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FADB0-289C-76CC-2A4F-17F79DD1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92341A8E-7537-3FCE-CB5A-27F2E7CD48F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C2CD250E-7686-837A-841A-9477FE4F41F5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77CA9-9802-9438-FF84-2EB8EEDDEA1E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Analysis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F3EABF9-8CDB-A769-1728-5414A1CD1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302855"/>
            <a:ext cx="1700784" cy="17007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E219EE-8A61-CAE8-B255-9C19DA20F857}"/>
              </a:ext>
            </a:extLst>
          </p:cNvPr>
          <p:cNvSpPr txBox="1"/>
          <p:nvPr/>
        </p:nvSpPr>
        <p:spPr>
          <a:xfrm>
            <a:off x="347414" y="6280516"/>
            <a:ext cx="46817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badi" panose="020B0604020104020204" pitchFamily="34" charset="0"/>
              </a:rPr>
              <a:t>Returns the number of unique values in each column of the </a:t>
            </a:r>
            <a:r>
              <a:rPr lang="en-US" sz="1600" dirty="0" err="1">
                <a:solidFill>
                  <a:schemeClr val="bg1"/>
                </a:solidFill>
                <a:latin typeface="Abadi" panose="020B0604020104020204" pitchFamily="34" charset="0"/>
              </a:rPr>
              <a:t>DataFrame</a:t>
            </a:r>
            <a:endParaRPr lang="en-US" sz="16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04EFE5-62D0-49CF-2A75-AE94806CA554}"/>
              </a:ext>
            </a:extLst>
          </p:cNvPr>
          <p:cNvSpPr txBox="1"/>
          <p:nvPr/>
        </p:nvSpPr>
        <p:spPr>
          <a:xfrm>
            <a:off x="8927684" y="3978402"/>
            <a:ext cx="3047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maximums,</a:t>
            </a:r>
            <a:r>
              <a:rPr lang="ar-OM" dirty="0">
                <a:solidFill>
                  <a:schemeClr val="bg1"/>
                </a:solidFill>
                <a:latin typeface="Abadi" panose="020B0604020104020204" pitchFamily="34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numeric columns.</a:t>
            </a:r>
          </a:p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- </a:t>
            </a:r>
            <a:r>
              <a:rPr lang="en-US" dirty="0">
                <a:solidFill>
                  <a:schemeClr val="bg1"/>
                </a:solidFill>
              </a:rPr>
              <a:t>One column shows True, which means it is a </a:t>
            </a:r>
            <a:r>
              <a:rPr lang="en-US" b="1" dirty="0">
                <a:solidFill>
                  <a:schemeClr val="bg1"/>
                </a:solidFill>
              </a:rPr>
              <a:t>Boolean column</a:t>
            </a:r>
            <a:r>
              <a:rPr lang="en-US" dirty="0">
                <a:solidFill>
                  <a:schemeClr val="bg1"/>
                </a:solidFill>
              </a:rPr>
              <a:t> that contains only True or False values instead of numbers.</a:t>
            </a:r>
            <a:endParaRPr lang="en-US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76D053-1B11-5E10-2F0F-754CC661AB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860" y="3325526"/>
            <a:ext cx="2855256" cy="29396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5FB4EC4-48F5-C22E-857F-2B062A67C9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3886" y="3547712"/>
            <a:ext cx="3048264" cy="2717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8176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9ECB8-3325-5E60-16F5-2D367820E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3E4BC2F6-6C6E-6153-87C5-6608ACC4970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D574A6C0-7CB6-0020-490F-36E85FAE55A9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201FFF-BE34-6EFB-17DD-EB7719AFBC25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Analysis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4113A5C-5657-C7BC-8B68-88AEA4005A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302855"/>
            <a:ext cx="1700784" cy="17007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DE8ED9-D27D-8257-CA8F-A8467AED2C8C}"/>
              </a:ext>
            </a:extLst>
          </p:cNvPr>
          <p:cNvSpPr txBox="1"/>
          <p:nvPr/>
        </p:nvSpPr>
        <p:spPr>
          <a:xfrm>
            <a:off x="1250721" y="4364405"/>
            <a:ext cx="46817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Filter rows using conditions</a:t>
            </a:r>
            <a:r>
              <a:rPr lang="ar-OM" dirty="0">
                <a:solidFill>
                  <a:schemeClr val="bg1"/>
                </a:solidFill>
                <a:latin typeface="Abadi" panose="020B0604020104020204" pitchFamily="34" charset="0"/>
              </a:rPr>
              <a:t>:</a:t>
            </a:r>
          </a:p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- only Social or Games category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2E7137-5A8F-CEDA-9079-B5832D99A4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483" y="4996792"/>
            <a:ext cx="4820642" cy="6847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4F17F7-5857-B8CE-2C4E-BDC4386CA3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2314" y="3547712"/>
            <a:ext cx="6429983" cy="3125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2582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52F4-3683-1B84-48B5-8328A6D7F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64AC31DD-DD5B-15AB-399C-EF69D4B404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045837C7-F2F7-0E61-E2F4-9D750CA18DF1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14D39B-043B-B30B-0924-088728D5DAA0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Analysis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DBADE76-33F1-8D66-491A-EF55169E4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302855"/>
            <a:ext cx="1700784" cy="17007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0142E0-65AD-0AE6-BEBC-5F670FA3C4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09" y="5057539"/>
            <a:ext cx="5145327" cy="6553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B687322-318E-5FD6-BA10-B66E8A3FF46C}"/>
              </a:ext>
            </a:extLst>
          </p:cNvPr>
          <p:cNvSpPr txBox="1"/>
          <p:nvPr/>
        </p:nvSpPr>
        <p:spPr>
          <a:xfrm>
            <a:off x="823002" y="4360937"/>
            <a:ext cx="46817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Filter rows using conditions</a:t>
            </a:r>
            <a:r>
              <a:rPr lang="ar-OM" dirty="0">
                <a:solidFill>
                  <a:schemeClr val="bg1"/>
                </a:solidFill>
                <a:latin typeface="Abadi" panose="020B0604020104020204" pitchFamily="34" charset="0"/>
              </a:rPr>
              <a:t>:</a:t>
            </a:r>
          </a:p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- users with more than 2h screen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7BD84D-CB91-9A20-5A42-ABBA6989B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5778" y="3270904"/>
            <a:ext cx="6125277" cy="339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960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58843-1928-B213-09B2-C59CCC70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3C7B427E-137F-FE79-6638-0A569A111E5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6E27FC21-092D-15A5-02DD-B36362B65DD3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B0523C-1371-7C9D-EC28-5B10F94F22F3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Analysis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0B94C7-BEEC-9E34-F319-E8FB024059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302855"/>
            <a:ext cx="1700784" cy="17007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C5E031-E5DD-7B95-90FD-890E3E503C30}"/>
              </a:ext>
            </a:extLst>
          </p:cNvPr>
          <p:cNvSpPr txBox="1"/>
          <p:nvPr/>
        </p:nvSpPr>
        <p:spPr>
          <a:xfrm>
            <a:off x="823002" y="4360937"/>
            <a:ext cx="46817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Filter rows using conditions</a:t>
            </a:r>
            <a:r>
              <a:rPr lang="ar-OM" dirty="0">
                <a:solidFill>
                  <a:schemeClr val="bg1"/>
                </a:solidFill>
                <a:latin typeface="Abadi" panose="020B0604020104020204" pitchFamily="34" charset="0"/>
              </a:rPr>
              <a:t>:</a:t>
            </a:r>
          </a:p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-  users aged between 18–25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2D65F5-B1F3-C8B1-B06C-B043F4CBFB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630" y="5263515"/>
            <a:ext cx="4908978" cy="6881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983501-45B9-D9C9-6FDE-C16AD2D4E8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6475" y="3547712"/>
            <a:ext cx="6403838" cy="3144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502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2CC0F-E378-2B48-0B05-ED659864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1F729AC6-55C1-CFF3-BC7F-4129C3D2E4D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98B51FA-0C34-09A5-CA3F-E1A58FEA6BC3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0C18DF-CA86-6CB0-4E67-72CB72D70CD5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Analysis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8F28028-CD40-D429-3266-B60A5D5B0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302855"/>
            <a:ext cx="1700784" cy="17007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F655E0-2595-EF6D-BA0C-4F84C7926B49}"/>
              </a:ext>
            </a:extLst>
          </p:cNvPr>
          <p:cNvSpPr txBox="1"/>
          <p:nvPr/>
        </p:nvSpPr>
        <p:spPr>
          <a:xfrm>
            <a:off x="5991913" y="4456738"/>
            <a:ext cx="43597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Add  a (</a:t>
            </a:r>
            <a:r>
              <a:rPr lang="en-US" dirty="0" err="1">
                <a:solidFill>
                  <a:schemeClr val="bg1"/>
                </a:solidFill>
                <a:latin typeface="Abadi" panose="020B0604020104020204" pitchFamily="34" charset="0"/>
              </a:rPr>
              <a:t>heavy_user</a:t>
            </a:r>
            <a:r>
              <a:rPr lang="ar-OM" dirty="0">
                <a:solidFill>
                  <a:schemeClr val="bg1"/>
                </a:solidFill>
                <a:latin typeface="Abadi" panose="020B0604020104020204" pitchFamily="34" charset="0"/>
              </a:rPr>
              <a:t>(</a:t>
            </a:r>
            <a:r>
              <a:rPr lang="en-US" dirty="0">
                <a:solidFill>
                  <a:schemeClr val="bg1"/>
                </a:solidFill>
                <a:latin typeface="Abadi" panose="020B0604020104020204" pitchFamily="34" charset="0"/>
              </a:rPr>
              <a:t> column to mark users with more than 120 minutes of screen time (1 = heavy user, 0 = regular user).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A89774-F939-729F-D9C4-8F769CDEFB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130" y="3669915"/>
            <a:ext cx="5612556" cy="25071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96FB73-4E46-9B97-A0F0-623C186350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7927" y="3260270"/>
            <a:ext cx="807790" cy="339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433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8484E-7EC9-31F9-C776-05ED338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48F2723C-D388-6B4F-3464-482F3DAF429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DD93B09F-19DA-0750-570A-A6DEF70EAD70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F1F31-FD1F-8CEB-17EA-509F5E2E5C7D}"/>
              </a:ext>
            </a:extLst>
          </p:cNvPr>
          <p:cNvSpPr txBox="1"/>
          <p:nvPr/>
        </p:nvSpPr>
        <p:spPr>
          <a:xfrm>
            <a:off x="2192439" y="1846928"/>
            <a:ext cx="93311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9600" b="1" dirty="0">
                <a:solidFill>
                  <a:prstClr val="white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Data Analysis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8C1B1A-B2DE-EE85-DB73-E58271AE17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302855"/>
            <a:ext cx="1700784" cy="17007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F70CE0-2F7A-49C4-2CAD-80729F1B0967}"/>
              </a:ext>
            </a:extLst>
          </p:cNvPr>
          <p:cNvSpPr txBox="1"/>
          <p:nvPr/>
        </p:nvSpPr>
        <p:spPr>
          <a:xfrm>
            <a:off x="8446780" y="4886215"/>
            <a:ext cx="3528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</a:rPr>
              <a:t>sums app usage hours only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ED357E-BF99-3FBD-EEFD-C78AFFB1D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736" y="4116125"/>
            <a:ext cx="5833406" cy="20706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FF31C01-CEFD-60BE-FAE9-9DA8EE398E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5683" y="3536879"/>
            <a:ext cx="903918" cy="306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27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BCFEC-FE52-9AC4-C82D-37EA87F45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4EC2819D-94BF-7B9A-A7FF-DAF5A8D71E13}"/>
              </a:ext>
            </a:extLst>
          </p:cNvPr>
          <p:cNvSpPr/>
          <p:nvPr/>
        </p:nvSpPr>
        <p:spPr>
          <a:xfrm>
            <a:off x="2626468" y="214008"/>
            <a:ext cx="6939064" cy="6429984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247C-E7E9-F900-7F1E-8E45CC550341}"/>
              </a:ext>
            </a:extLst>
          </p:cNvPr>
          <p:cNvSpPr txBox="1"/>
          <p:nvPr/>
        </p:nvSpPr>
        <p:spPr>
          <a:xfrm>
            <a:off x="3477089" y="3742443"/>
            <a:ext cx="523003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 visualization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3683FC-799E-E4E2-67D8-D1A6FB470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626" y="1293986"/>
            <a:ext cx="29718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69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5EAED9-C273-9677-75FA-3EE9DA128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A6E1C4DF-56A1-DB81-8BF1-799FB83EBC5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FBA45A8-6FD7-4C0D-6745-D32DC81F7E52}"/>
              </a:ext>
            </a:extLst>
          </p:cNvPr>
          <p:cNvSpPr/>
          <p:nvPr/>
        </p:nvSpPr>
        <p:spPr>
          <a:xfrm>
            <a:off x="-1859666" y="-2993902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61C970-E5C8-9462-F1AC-4E5AF8FF3887}"/>
              </a:ext>
            </a:extLst>
          </p:cNvPr>
          <p:cNvSpPr txBox="1"/>
          <p:nvPr/>
        </p:nvSpPr>
        <p:spPr>
          <a:xfrm>
            <a:off x="2192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</a:t>
            </a:r>
            <a:r>
              <a:rPr kumimoji="0" lang="ar-OM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 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visualization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0D3E2B-A941-EACD-82F5-310B285F9E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864" y="3241021"/>
            <a:ext cx="5490273" cy="29937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9B1081-BB7C-DF67-0604-4F2599B03F33}"/>
              </a:ext>
            </a:extLst>
          </p:cNvPr>
          <p:cNvSpPr txBox="1"/>
          <p:nvPr/>
        </p:nvSpPr>
        <p:spPr>
          <a:xfrm>
            <a:off x="6096000" y="3328573"/>
            <a:ext cx="4297680" cy="296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dirty="0">
                <a:solidFill>
                  <a:schemeClr val="bg1"/>
                </a:solidFill>
              </a:rPr>
              <a:t>Line Plot:</a:t>
            </a:r>
            <a:endParaRPr lang="ar-OM" dirty="0">
              <a:solidFill>
                <a:schemeClr val="bg1"/>
              </a:solidFill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chemeClr val="bg1"/>
                </a:solidFill>
              </a:rPr>
              <a:t>The chart shows that people with higher stress levels tend to spend more time on their screens.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This suggests that digital use may increase as a coping mechanism for stress.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F1879F-7A6B-6D81-39CA-34CF956792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5064" y="476860"/>
            <a:ext cx="1700784" cy="170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888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D9442-508E-B267-2C89-E40408B3C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B749D7E5-AA6F-79DA-B90D-DB29F1B983A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3866B399-E30B-816D-4F1F-100C03557299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5ED453-EFC4-000F-E8C7-2B153C6DF0C9}"/>
              </a:ext>
            </a:extLst>
          </p:cNvPr>
          <p:cNvSpPr txBox="1"/>
          <p:nvPr/>
        </p:nvSpPr>
        <p:spPr>
          <a:xfrm>
            <a:off x="2192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</a:t>
            </a:r>
            <a:r>
              <a:rPr kumimoji="0" lang="ar-OM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 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A06CD7-AA16-1BA2-957A-983CC2DB9F07}"/>
              </a:ext>
            </a:extLst>
          </p:cNvPr>
          <p:cNvSpPr txBox="1"/>
          <p:nvPr/>
        </p:nvSpPr>
        <p:spPr>
          <a:xfrm>
            <a:off x="6300282" y="3386941"/>
            <a:ext cx="3660843" cy="296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dirty="0">
                <a:solidFill>
                  <a:schemeClr val="bg1"/>
                </a:solidFill>
              </a:rPr>
              <a:t> Bar Chart:</a:t>
            </a:r>
            <a:endParaRPr lang="ar-OM" dirty="0">
              <a:solidFill>
                <a:schemeClr val="bg1"/>
              </a:solidFill>
            </a:endParaRPr>
          </a:p>
          <a:p>
            <a:pPr algn="just">
              <a:lnSpc>
                <a:spcPct val="150000"/>
              </a:lnSpc>
              <a:defRPr/>
            </a:pPr>
            <a:r>
              <a:rPr lang="en-US" dirty="0">
                <a:solidFill>
                  <a:schemeClr val="bg1"/>
                </a:solidFill>
              </a:rPr>
              <a:t>Females spend slightly more time on entertainment and social apps,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while males use productivity and utility apps a bit more.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Overall, screen time is quite similar between genders.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7CE1E9-CBAA-E38A-52F7-621E75FA7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064" y="476860"/>
            <a:ext cx="1700784" cy="17007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C8B3EF-4B7E-3F34-B802-1F126705B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38" y="3162353"/>
            <a:ext cx="5258177" cy="3387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021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98292-87B2-EFE5-7E4F-F469F9F1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BC44F350-783D-D237-4666-A1C1D60D0F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1432075-D9E2-2A02-D632-D11010C967B8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32187-D9D1-4578-3A7E-C512152016DC}"/>
              </a:ext>
            </a:extLst>
          </p:cNvPr>
          <p:cNvSpPr txBox="1"/>
          <p:nvPr/>
        </p:nvSpPr>
        <p:spPr>
          <a:xfrm>
            <a:off x="2192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</a:t>
            </a:r>
            <a:r>
              <a:rPr kumimoji="0" lang="ar-OM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 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8E01A2-F9BD-87AB-943C-3B89CE113162}"/>
              </a:ext>
            </a:extLst>
          </p:cNvPr>
          <p:cNvSpPr txBox="1"/>
          <p:nvPr/>
        </p:nvSpPr>
        <p:spPr>
          <a:xfrm>
            <a:off x="6096000" y="3556605"/>
            <a:ext cx="4584970" cy="2545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 Scatter Plot: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Each point is one person.</a:t>
            </a:r>
            <a:endParaRPr lang="ar-OM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Fewer sleep hours (4–5) = darker, higher points → more screen time.</a:t>
            </a:r>
            <a:endParaRPr lang="ar-OM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More sleep (8–9 hours) = lighter, lower points → less screen time.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CEDDE77-2CB5-2778-FC2B-9298123251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064" y="476860"/>
            <a:ext cx="1700784" cy="17007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0748F3-8DE6-A59B-16FB-A22C67190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711" y="3457333"/>
            <a:ext cx="5046008" cy="2606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542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2A170-D67D-4251-1CCA-AC3023ECC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5DC9D015-0659-4F43-4A2B-E9A6E53F0E3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329BAF7A-E661-D931-ADA7-C722360DF582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E8F5CB-D3A4-6B6F-0AC6-1346F5101573}"/>
              </a:ext>
            </a:extLst>
          </p:cNvPr>
          <p:cNvSpPr txBox="1"/>
          <p:nvPr/>
        </p:nvSpPr>
        <p:spPr>
          <a:xfrm>
            <a:off x="2192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</a:t>
            </a:r>
            <a:r>
              <a:rPr kumimoji="0" lang="ar-OM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 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14AADF-B564-E421-7771-51DBC2C452C8}"/>
              </a:ext>
            </a:extLst>
          </p:cNvPr>
          <p:cNvSpPr txBox="1"/>
          <p:nvPr/>
        </p:nvSpPr>
        <p:spPr>
          <a:xfrm>
            <a:off x="6096000" y="3547712"/>
            <a:ext cx="5606374" cy="296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 Box plot:</a:t>
            </a:r>
            <a:endParaRPr lang="ar-OM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The chart shows that males and females have similar screen time (around 80–90 minutes).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The “Other” group shows a wider range, meaning some spend much longer on screens.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Overall, there’s no big gender difference, but all groups include heavy users.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9EC86F-AF1A-E3CD-2E27-26B463AA52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064" y="476860"/>
            <a:ext cx="1700784" cy="17007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4B7FDD-117A-5151-EB5D-E71E04BBC8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745" y="3104256"/>
            <a:ext cx="5334462" cy="3276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782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3C019-2F9B-0E95-CDED-649B5A8F4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F476256C-E879-332D-E7A8-1DEF0CE6AD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4A8F6C5-16DC-FCC0-D39F-4E721DF7FF9D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2FF38-80DF-1C2D-FD41-93496FECE422}"/>
              </a:ext>
            </a:extLst>
          </p:cNvPr>
          <p:cNvSpPr txBox="1"/>
          <p:nvPr/>
        </p:nvSpPr>
        <p:spPr>
          <a:xfrm>
            <a:off x="2192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</a:t>
            </a:r>
            <a:r>
              <a:rPr kumimoji="0" lang="ar-OM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 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D08669-7B98-D061-EE9E-A761640A38E5}"/>
              </a:ext>
            </a:extLst>
          </p:cNvPr>
          <p:cNvSpPr txBox="1"/>
          <p:nvPr/>
        </p:nvSpPr>
        <p:spPr>
          <a:xfrm>
            <a:off x="6593840" y="3287017"/>
            <a:ext cx="5344160" cy="296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Balance: The distribution is largely balanced, with all percentages ranging from 23% to 27%. This suggests that the application market (in this data) is diverse and does not depend on a single type.</a:t>
            </a:r>
            <a:endParaRPr kumimoji="0" lang="ar-OM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Equal attention: There seems to be a close demand from users for social media applications, entertainment, productivity and assistance.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B51382-74A3-296A-5891-B73F470D51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764" y="3170367"/>
            <a:ext cx="5442358" cy="350475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87D50A3-5960-1490-045A-8EE3894AF5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5064" y="476860"/>
            <a:ext cx="1700784" cy="170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756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2D74E-AE33-694C-513A-567A6ACDE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E10F97F6-C8F2-05C5-F4FD-B7F7E02E799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6A547016-3C0A-BB37-824A-5FD17795CDD0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20682-BFC1-9EA0-A63C-B2C24701FA2B}"/>
              </a:ext>
            </a:extLst>
          </p:cNvPr>
          <p:cNvSpPr txBox="1"/>
          <p:nvPr/>
        </p:nvSpPr>
        <p:spPr>
          <a:xfrm>
            <a:off x="2192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</a:t>
            </a:r>
            <a:r>
              <a:rPr kumimoji="0" lang="ar-OM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 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F5BCD-69E0-C706-425E-A5CAECEB3EFA}"/>
              </a:ext>
            </a:extLst>
          </p:cNvPr>
          <p:cNvSpPr txBox="1"/>
          <p:nvPr/>
        </p:nvSpPr>
        <p:spPr>
          <a:xfrm>
            <a:off x="6720303" y="3364839"/>
            <a:ext cx="5497641" cy="3376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chemeClr val="bg1"/>
                </a:solidFill>
              </a:rPr>
              <a:t>The chart shows which apps are used productively or not.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Blue bars mean </a:t>
            </a:r>
            <a:r>
              <a:rPr lang="en-US" i="1" dirty="0">
                <a:solidFill>
                  <a:schemeClr val="bg1"/>
                </a:solidFill>
              </a:rPr>
              <a:t>productive use</a:t>
            </a:r>
            <a:r>
              <a:rPr lang="en-US" dirty="0">
                <a:solidFill>
                  <a:schemeClr val="bg1"/>
                </a:solidFill>
              </a:rPr>
              <a:t> (for work or study).</a:t>
            </a:r>
            <a:endParaRPr lang="ar-OM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chemeClr val="bg1"/>
                </a:solidFill>
              </a:rPr>
              <a:t>Red bars mean </a:t>
            </a:r>
            <a:r>
              <a:rPr lang="en-US" i="1" dirty="0">
                <a:solidFill>
                  <a:schemeClr val="bg1"/>
                </a:solidFill>
              </a:rPr>
              <a:t>non-productive use</a:t>
            </a:r>
            <a:r>
              <a:rPr lang="en-US" dirty="0">
                <a:solidFill>
                  <a:schemeClr val="bg1"/>
                </a:solidFill>
              </a:rPr>
              <a:t> (entertainment or social).</a:t>
            </a:r>
            <a:endParaRPr lang="ar-OM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chemeClr val="bg1"/>
                </a:solidFill>
              </a:rPr>
              <a:t>Apps like </a:t>
            </a:r>
            <a:r>
              <a:rPr lang="en-US" b="1" dirty="0">
                <a:solidFill>
                  <a:schemeClr val="bg1"/>
                </a:solidFill>
              </a:rPr>
              <a:t>Google Docs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b="1" dirty="0">
                <a:solidFill>
                  <a:schemeClr val="bg1"/>
                </a:solidFill>
              </a:rPr>
              <a:t>Teams</a:t>
            </a:r>
            <a:r>
              <a:rPr lang="en-US" dirty="0">
                <a:solidFill>
                  <a:schemeClr val="bg1"/>
                </a:solidFill>
              </a:rPr>
              <a:t>, and </a:t>
            </a:r>
            <a:r>
              <a:rPr lang="en-US" b="1" dirty="0">
                <a:solidFill>
                  <a:schemeClr val="bg1"/>
                </a:solidFill>
              </a:rPr>
              <a:t>Slack</a:t>
            </a:r>
            <a:r>
              <a:rPr lang="en-US" dirty="0">
                <a:solidFill>
                  <a:schemeClr val="bg1"/>
                </a:solidFill>
              </a:rPr>
              <a:t> are mostly </a:t>
            </a:r>
            <a:r>
              <a:rPr lang="en-US" dirty="0" err="1">
                <a:solidFill>
                  <a:schemeClr val="bg1"/>
                </a:solidFill>
              </a:rPr>
              <a:t>productive,while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YouTube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b="1" dirty="0">
                <a:solidFill>
                  <a:schemeClr val="bg1"/>
                </a:solidFill>
              </a:rPr>
              <a:t>TikTok</a:t>
            </a:r>
            <a:r>
              <a:rPr lang="en-US" dirty="0">
                <a:solidFill>
                  <a:schemeClr val="bg1"/>
                </a:solidFill>
              </a:rPr>
              <a:t>, and </a:t>
            </a:r>
            <a:r>
              <a:rPr lang="en-US" b="1" dirty="0">
                <a:solidFill>
                  <a:schemeClr val="bg1"/>
                </a:solidFill>
              </a:rPr>
              <a:t>Spotify</a:t>
            </a:r>
            <a:r>
              <a:rPr lang="en-US" dirty="0">
                <a:solidFill>
                  <a:schemeClr val="bg1"/>
                </a:solidFill>
              </a:rPr>
              <a:t> are mainly non-productive.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DE00926-AF76-2F0F-7BBD-D4B6E54BC8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064" y="476860"/>
            <a:ext cx="1700784" cy="1700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05C6A1-A1D5-A2DC-A28B-211FCC3963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" y="3306424"/>
            <a:ext cx="6416723" cy="312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714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5715C-33D3-877F-944A-D09652E30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806D10A4-B844-8C72-8AE5-2981914D559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6B10246-6162-8B8F-B18F-2EDF47FC80EE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BAFE52-22CB-03D1-B7B6-F49768454BEE}"/>
              </a:ext>
            </a:extLst>
          </p:cNvPr>
          <p:cNvSpPr txBox="1"/>
          <p:nvPr/>
        </p:nvSpPr>
        <p:spPr>
          <a:xfrm>
            <a:off x="2192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</a:t>
            </a:r>
            <a:r>
              <a:rPr kumimoji="0" lang="ar-OM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 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FFCC8D-953D-1250-D8BD-DA51DDF33A3B}"/>
              </a:ext>
            </a:extLst>
          </p:cNvPr>
          <p:cNvSpPr txBox="1"/>
          <p:nvPr/>
        </p:nvSpPr>
        <p:spPr>
          <a:xfrm>
            <a:off x="6720304" y="3364839"/>
            <a:ext cx="50890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Histogram</a:t>
            </a:r>
            <a:r>
              <a:rPr lang="ar-OM" dirty="0">
                <a:solidFill>
                  <a:schemeClr val="bg1"/>
                </a:solidFill>
              </a:rPr>
              <a:t>: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Younger people (&lt;30) are generally more physically active.</a:t>
            </a:r>
            <a:endParaRPr lang="ar-OM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Middle-aged adults (30–49) show lower activity levels.</a:t>
            </a:r>
            <a:endParaRPr lang="ar-OM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Older adults (50+) have mixed activity patterns.</a:t>
            </a:r>
            <a:endParaRPr lang="ar-OM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This shows that physical activity decreases with age for most people.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346741-5434-6084-EEB2-ACD0CBDC44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064" y="476860"/>
            <a:ext cx="1700784" cy="17007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B5D2B8-56AE-9309-CDE5-BD2BA9D805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620" y="3117480"/>
            <a:ext cx="5971183" cy="362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220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E7C54-82D1-E762-96D0-A64BCC6C7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868535A6-D3C9-50A4-D1B5-010D72438D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8063D96F-0726-8DCB-0318-516E5A22C208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DD3448-8B33-8E2E-A29E-5EFB8E58BD30}"/>
              </a:ext>
            </a:extLst>
          </p:cNvPr>
          <p:cNvSpPr txBox="1"/>
          <p:nvPr/>
        </p:nvSpPr>
        <p:spPr>
          <a:xfrm>
            <a:off x="2192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</a:t>
            </a:r>
            <a:r>
              <a:rPr kumimoji="0" lang="ar-OM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 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1181C0-A6F6-A6FC-BB41-290CEC938E6D}"/>
              </a:ext>
            </a:extLst>
          </p:cNvPr>
          <p:cNvSpPr txBox="1"/>
          <p:nvPr/>
        </p:nvSpPr>
        <p:spPr>
          <a:xfrm>
            <a:off x="5974080" y="3287017"/>
            <a:ext cx="5963920" cy="3376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The data shows that older adults (50–60) tend to spend more time on screens than younger users.</a:t>
            </a:r>
          </a:p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There is still a clear negative relationship between sleep hours and screen time.</a:t>
            </a:r>
          </a:p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Interestingly, people with good or excellent mental health show slightly higher screen time,</a:t>
            </a:r>
          </a:p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which might indicate productive or balanced digital use rather than stress-related behavior.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C0C999-49A1-135C-DB57-71C4079FFC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064" y="476860"/>
            <a:ext cx="1700784" cy="17007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A7D2337-B0D4-F294-0A2E-1A4C8950F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15" y="3170366"/>
            <a:ext cx="5828165" cy="3376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1168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47AAE-97CF-FE28-185F-F29D1CF5B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022FAAA6-4035-1832-2F02-172E8642B9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8D65B2D0-FDFB-1CCA-B6C7-6FB8204D9D35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EA1FF8-EA62-EBAC-C872-196FF94AC732}"/>
              </a:ext>
            </a:extLst>
          </p:cNvPr>
          <p:cNvSpPr txBox="1"/>
          <p:nvPr/>
        </p:nvSpPr>
        <p:spPr>
          <a:xfrm>
            <a:off x="2192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</a:t>
            </a:r>
            <a:r>
              <a:rPr kumimoji="0" lang="ar-OM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 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C1858-92E3-F87C-C1DA-9037715946A7}"/>
              </a:ext>
            </a:extLst>
          </p:cNvPr>
          <p:cNvSpPr txBox="1"/>
          <p:nvPr/>
        </p:nvSpPr>
        <p:spPr>
          <a:xfrm>
            <a:off x="6611523" y="3191735"/>
            <a:ext cx="5059680" cy="2545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Males show the highest app usage, especially on YouTube.</a:t>
            </a:r>
            <a:endParaRPr kumimoji="0" lang="ar-OM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Females have lower usage overall but are more active on WhatsApp</a:t>
            </a:r>
            <a:r>
              <a:rPr lang="ar-OM" dirty="0">
                <a:solidFill>
                  <a:prstClr val="white"/>
                </a:solidFill>
                <a:latin typeface="Aptos" panose="02110004020202020204"/>
              </a:rPr>
              <a:t>.</a:t>
            </a:r>
            <a:endParaRPr kumimoji="0" lang="ar-OM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ar-OM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Other users show moderate and balanced usage across all apps.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689BF68-C8C1-7A48-4F8D-F0A5C7EC80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064" y="476860"/>
            <a:ext cx="1700784" cy="17007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C32954-0D3A-C507-9286-6DF4CA618C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379" y="3191735"/>
            <a:ext cx="5248348" cy="2841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2791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B9263-025E-4498-E269-7282F20D5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FEF14F2A-D499-B335-4342-B33E8EA86BD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A1261796-5942-5546-5F7F-871DEB9B6690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37247C-D56A-D02B-3C28-D384C9479FB0}"/>
              </a:ext>
            </a:extLst>
          </p:cNvPr>
          <p:cNvSpPr txBox="1"/>
          <p:nvPr/>
        </p:nvSpPr>
        <p:spPr>
          <a:xfrm>
            <a:off x="2192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Data</a:t>
            </a:r>
            <a:r>
              <a:rPr kumimoji="0" lang="ar-OM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 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28520D-BCE1-9762-65CF-DB2FEA2988CB}"/>
              </a:ext>
            </a:extLst>
          </p:cNvPr>
          <p:cNvSpPr txBox="1"/>
          <p:nvPr/>
        </p:nvSpPr>
        <p:spPr>
          <a:xfrm>
            <a:off x="2758132" y="6156920"/>
            <a:ext cx="7621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Creates a new digital wellbeing index column and compares it with stress levels to evaluate users.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27088-FD4D-B48B-C842-F941A37CED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064" y="476860"/>
            <a:ext cx="1700784" cy="17007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68D5CC-F71F-C635-19FC-843F80779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374" y="3191735"/>
            <a:ext cx="5740226" cy="29822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11158D-25F1-0613-D573-0492D18AC3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5481" y="3170367"/>
            <a:ext cx="5257572" cy="298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336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C0F86D-2F10-43E9-837E-18D4C568C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5E277D55-C4DB-36F4-5618-F60FC8513152}"/>
              </a:ext>
            </a:extLst>
          </p:cNvPr>
          <p:cNvSpPr/>
          <p:nvPr/>
        </p:nvSpPr>
        <p:spPr>
          <a:xfrm>
            <a:off x="2626468" y="214008"/>
            <a:ext cx="6939064" cy="6429984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DA980A-E33E-54C3-EA92-B6F515F78FB1}"/>
              </a:ext>
            </a:extLst>
          </p:cNvPr>
          <p:cNvSpPr txBox="1"/>
          <p:nvPr/>
        </p:nvSpPr>
        <p:spPr>
          <a:xfrm>
            <a:off x="3477089" y="3742443"/>
            <a:ext cx="5230031" cy="101566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Summary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61F85-EA9B-5AFD-95D0-AE8F47E4B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204" y="925168"/>
            <a:ext cx="29718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643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84C0-CF9A-4E29-260F-57CFE56F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network&#10;&#10;AI-generated content may be incorrect.">
            <a:extLst>
              <a:ext uri="{FF2B5EF4-FFF2-40B4-BE49-F238E27FC236}">
                <a16:creationId xmlns:a16="http://schemas.microsoft.com/office/drawing/2014/main" id="{DEBCD881-21C9-CB53-E1F4-3F16BC92CA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" r="1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9DDA077-1540-F861-5590-F07F7D662F14}"/>
              </a:ext>
            </a:extLst>
          </p:cNvPr>
          <p:cNvSpPr/>
          <p:nvPr/>
        </p:nvSpPr>
        <p:spPr>
          <a:xfrm>
            <a:off x="-1859666" y="-3003630"/>
            <a:ext cx="15911332" cy="12865260"/>
          </a:xfrm>
          <a:prstGeom prst="ellipse">
            <a:avLst/>
          </a:prstGeom>
          <a:solidFill>
            <a:srgbClr val="10425A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B76BD1-2B14-E7D0-4A3F-C95D8F572137}"/>
              </a:ext>
            </a:extLst>
          </p:cNvPr>
          <p:cNvSpPr txBox="1"/>
          <p:nvPr/>
        </p:nvSpPr>
        <p:spPr>
          <a:xfrm>
            <a:off x="1430439" y="1846928"/>
            <a:ext cx="933112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F0502020204030204" pitchFamily="2" charset="-79"/>
                <a:ea typeface="+mn-ea"/>
                <a:cs typeface="Aharoni" panose="020F0502020204030204" pitchFamily="2" charset="-79"/>
              </a:rPr>
              <a:t>Summary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4F61F9-9931-F702-2814-3D7328303F51}"/>
              </a:ext>
            </a:extLst>
          </p:cNvPr>
          <p:cNvSpPr txBox="1"/>
          <p:nvPr/>
        </p:nvSpPr>
        <p:spPr>
          <a:xfrm>
            <a:off x="4216400" y="3718961"/>
            <a:ext cx="7477760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Benefits of These Insights</a:t>
            </a:r>
            <a:r>
              <a:rPr kumimoji="0" lang="ar-OM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</a:t>
            </a:r>
          </a:p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Identify users with high screen time or stress for early support.</a:t>
            </a:r>
            <a:endParaRPr kumimoji="0" lang="ar-OM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Provide personalized tips to improve digital balance.</a:t>
            </a:r>
            <a:endParaRPr kumimoji="0" lang="ar-OM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Guide awareness programs on healthy screen use.</a:t>
            </a:r>
            <a:endParaRPr kumimoji="0" lang="ar-OM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Help set realistic goals for better mental well-being.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9228E6-B5B7-0E97-DD9B-C0445214F4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" y="3531395"/>
            <a:ext cx="29718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4981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674</TotalTime>
  <Words>1084</Words>
  <Application>Microsoft Office PowerPoint</Application>
  <PresentationFormat>Widescreen</PresentationFormat>
  <Paragraphs>120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3" baseType="lpstr">
      <vt:lpstr>Abadi</vt:lpstr>
      <vt:lpstr>ADLaM Display</vt:lpstr>
      <vt:lpstr>Aharoni</vt:lpstr>
      <vt:lpstr>Akhbar MT</vt:lpstr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AL-AMRI</dc:creator>
  <cp:lastModifiedBy>FATIMA AL-AMRI</cp:lastModifiedBy>
  <cp:revision>57</cp:revision>
  <dcterms:created xsi:type="dcterms:W3CDTF">2025-11-01T05:56:19Z</dcterms:created>
  <dcterms:modified xsi:type="dcterms:W3CDTF">2025-11-03T14:51:04Z</dcterms:modified>
</cp:coreProperties>
</file>